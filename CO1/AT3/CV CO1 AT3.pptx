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456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65A82">
              <a:alpha val="45000"/>
            </a:srgbClr>
          </a:solidFill>
          <a:ln/>
        </p:spPr>
      </p:sp>
      <p:sp>
        <p:nvSpPr>
          <p:cNvPr id="3" name="Shape 1"/>
          <p:cNvSpPr/>
          <p:nvPr/>
        </p:nvSpPr>
        <p:spPr>
          <a:xfrm>
            <a:off x="10607040" y="3291840"/>
            <a:ext cx="3840480" cy="3840480"/>
          </a:xfrm>
          <a:prstGeom prst="ellipse">
            <a:avLst/>
          </a:prstGeom>
          <a:solidFill>
            <a:srgbClr val="1C7293">
              <a:alpha val="45000"/>
            </a:srgbClr>
          </a:solidFill>
          <a:ln/>
        </p:spPr>
      </p:sp>
      <p:sp>
        <p:nvSpPr>
          <p:cNvPr id="4" name="Text 2"/>
          <p:cNvSpPr/>
          <p:nvPr/>
        </p:nvSpPr>
        <p:spPr>
          <a:xfrm>
            <a:off x="731520" y="1188720"/>
            <a:ext cx="7315200" cy="365760"/>
          </a:xfrm>
          <a:prstGeom prst="rect">
            <a:avLst/>
          </a:prstGeom>
          <a:noFill/>
          <a:ln/>
        </p:spPr>
        <p:txBody>
          <a:bodyPr wrap="square" rtlCol="0" anchor="ctr"/>
          <a:lstStyle/>
          <a:p>
            <a:pPr marL="0" indent="0">
              <a:buNone/>
            </a:pPr>
            <a:r>
              <a:rPr lang="en-US" sz="1300" b="1" kern="0" spc="200" dirty="0">
                <a:solidFill>
                  <a:srgbClr val="9FD3E8"/>
                </a:solidFill>
                <a:latin typeface="Calibri" pitchFamily="34" charset="0"/>
                <a:ea typeface="Calibri" pitchFamily="34" charset="-122"/>
                <a:cs typeface="Calibri" pitchFamily="34" charset="-120"/>
              </a:rPr>
              <a:t>COMPUTER SCIENCE &amp; ENGINEERING  •  SEMINAR</a:t>
            </a:r>
            <a:endParaRPr lang="en-US" sz="1300" dirty="0"/>
          </a:p>
        </p:txBody>
      </p:sp>
      <p:sp>
        <p:nvSpPr>
          <p:cNvPr id="5" name="Text 3"/>
          <p:cNvSpPr/>
          <p:nvPr/>
        </p:nvSpPr>
        <p:spPr>
          <a:xfrm>
            <a:off x="685800" y="1600200"/>
            <a:ext cx="10058400" cy="118872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Computer Vision</a:t>
            </a:r>
            <a:endParaRPr lang="en-US" sz="5400" dirty="0"/>
          </a:p>
        </p:txBody>
      </p:sp>
      <p:sp>
        <p:nvSpPr>
          <p:cNvPr id="6" name="Text 4"/>
          <p:cNvSpPr/>
          <p:nvPr/>
        </p:nvSpPr>
        <p:spPr>
          <a:xfrm>
            <a:off x="731520" y="2697480"/>
            <a:ext cx="9144000" cy="548640"/>
          </a:xfrm>
          <a:prstGeom prst="rect">
            <a:avLst/>
          </a:prstGeom>
          <a:noFill/>
          <a:ln/>
        </p:spPr>
        <p:txBody>
          <a:bodyPr wrap="square"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Teaching Machines to See, Interpret, and Act</a:t>
            </a:r>
            <a:endParaRPr lang="en-US" sz="2000" dirty="0"/>
          </a:p>
        </p:txBody>
      </p:sp>
      <p:sp>
        <p:nvSpPr>
          <p:cNvPr id="7" name="Shape 5"/>
          <p:cNvSpPr/>
          <p:nvPr/>
        </p:nvSpPr>
        <p:spPr>
          <a:xfrm>
            <a:off x="731520" y="3429000"/>
            <a:ext cx="2011680" cy="0"/>
          </a:xfrm>
          <a:prstGeom prst="line">
            <a:avLst/>
          </a:prstGeom>
          <a:noFill/>
          <a:ln w="25400">
            <a:solidFill>
              <a:srgbClr val="9FD3E8"/>
            </a:solidFill>
            <a:prstDash val="solid"/>
          </a:ln>
        </p:spPr>
      </p:sp>
      <p:sp>
        <p:nvSpPr>
          <p:cNvPr id="8" name="Text 6"/>
          <p:cNvSpPr/>
          <p:nvPr/>
        </p:nvSpPr>
        <p:spPr>
          <a:xfrm>
            <a:off x="731520" y="3749040"/>
            <a:ext cx="10058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Introduction  ·  Key Features  ·  Importance  ·  Levels of Vision  ·  Real-World Case Study</a:t>
            </a:r>
            <a:endParaRPr lang="en-US" sz="1300" dirty="0"/>
          </a:p>
        </p:txBody>
      </p:sp>
      <p:pic>
        <p:nvPicPr>
          <p:cNvPr id="9" name="Image 0" descr="icons/eye_065A82.png"/>
          <p:cNvPicPr>
            <a:picLocks noChangeAspect="1"/>
          </p:cNvPicPr>
          <p:nvPr/>
        </p:nvPicPr>
        <p:blipFill>
          <a:blip r:embed="rId3">
            <a:alphaModFix amt="90000"/>
          </a:blip>
          <a:stretch>
            <a:fillRect/>
          </a:stretch>
        </p:blipFill>
        <p:spPr>
          <a:xfrm>
            <a:off x="9966960" y="5120640"/>
            <a:ext cx="1371600" cy="1371600"/>
          </a:xfrm>
          <a:prstGeom prst="rect">
            <a:avLst/>
          </a:prstGeom>
        </p:spPr>
      </p:pic>
      <p:sp>
        <p:nvSpPr>
          <p:cNvPr id="10" name="Text 7"/>
          <p:cNvSpPr/>
          <p:nvPr/>
        </p:nvSpPr>
        <p:spPr>
          <a:xfrm>
            <a:off x="731520" y="6035040"/>
            <a:ext cx="8229600" cy="365760"/>
          </a:xfrm>
          <a:prstGeom prst="rect">
            <a:avLst/>
          </a:prstGeom>
          <a:noFill/>
          <a:ln/>
        </p:spPr>
        <p:txBody>
          <a:bodyPr wrap="square" rtlCol="0" anchor="ctr"/>
          <a:lstStyle/>
          <a:p>
            <a:pPr marL="0" indent="0">
              <a:buNone/>
            </a:pPr>
            <a:endParaRPr lang="en-US" sz="1200" dirty="0">
              <a:solidFill>
                <a:schemeClr val="bg1"/>
              </a:solidFill>
            </a:endParaRPr>
          </a:p>
        </p:txBody>
      </p:sp>
      <p:sp>
        <p:nvSpPr>
          <p:cNvPr id="11" name="TextBox 10"/>
          <p:cNvSpPr txBox="1"/>
          <p:nvPr/>
        </p:nvSpPr>
        <p:spPr>
          <a:xfrm>
            <a:off x="8257880" y="5291091"/>
            <a:ext cx="4506955" cy="646331"/>
          </a:xfrm>
          <a:prstGeom prst="rect">
            <a:avLst/>
          </a:prstGeom>
          <a:noFill/>
        </p:spPr>
        <p:txBody>
          <a:bodyPr wrap="square" rtlCol="0">
            <a:spAutoFit/>
          </a:bodyPr>
          <a:lstStyle/>
          <a:p>
            <a:r>
              <a:rPr lang="en-US" b="1" dirty="0" smtClean="0">
                <a:solidFill>
                  <a:schemeClr val="bg1"/>
                </a:solidFill>
              </a:rPr>
              <a:t>NAME:PREETHIVARTHANA.M</a:t>
            </a:r>
          </a:p>
          <a:p>
            <a:r>
              <a:rPr lang="en-US" b="1" dirty="0" smtClean="0">
                <a:solidFill>
                  <a:schemeClr val="bg1"/>
                </a:solidFill>
              </a:rPr>
              <a:t>REG NO:192521334</a:t>
            </a:r>
            <a:endParaRPr lang="en-US" b="1" dirty="0">
              <a:solidFill>
                <a:schemeClr val="bg1"/>
              </a:solidFill>
            </a:endParaRPr>
          </a:p>
        </p:txBody>
      </p:sp>
      <p:sp>
        <p:nvSpPr>
          <p:cNvPr id="12" name="TextBox 11"/>
          <p:cNvSpPr txBox="1"/>
          <p:nvPr/>
        </p:nvSpPr>
        <p:spPr>
          <a:xfrm>
            <a:off x="556181" y="5300518"/>
            <a:ext cx="3016578" cy="646331"/>
          </a:xfrm>
          <a:prstGeom prst="rect">
            <a:avLst/>
          </a:prstGeom>
          <a:noFill/>
        </p:spPr>
        <p:txBody>
          <a:bodyPr wrap="square" rtlCol="0">
            <a:spAutoFit/>
          </a:bodyPr>
          <a:lstStyle/>
          <a:p>
            <a:r>
              <a:rPr lang="en-US" dirty="0" smtClean="0">
                <a:solidFill>
                  <a:schemeClr val="bg1"/>
                </a:solidFill>
              </a:rPr>
              <a:t>GUIDED BY:</a:t>
            </a:r>
          </a:p>
          <a:p>
            <a:r>
              <a:rPr lang="en-US" dirty="0" err="1" smtClean="0">
                <a:solidFill>
                  <a:schemeClr val="bg1"/>
                </a:solidFill>
              </a:rPr>
              <a:t>Dr.T.M.Usha</a:t>
            </a: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01  ·  INTRODUCTION</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What Is Computer Vision?</a:t>
            </a:r>
            <a:endParaRPr lang="en-US" sz="3200" dirty="0"/>
          </a:p>
        </p:txBody>
      </p:sp>
      <p:sp>
        <p:nvSpPr>
          <p:cNvPr id="4" name="Text 2"/>
          <p:cNvSpPr/>
          <p:nvPr/>
        </p:nvSpPr>
        <p:spPr>
          <a:xfrm>
            <a:off x="548640" y="1508760"/>
            <a:ext cx="5577840" cy="1371600"/>
          </a:xfrm>
          <a:prstGeom prst="rect">
            <a:avLst/>
          </a:prstGeom>
          <a:noFill/>
          <a:ln/>
        </p:spPr>
        <p:txBody>
          <a:bodyPr wrap="square" rtlCol="0" anchor="ctr"/>
          <a:lstStyle/>
          <a:p>
            <a:pPr marL="0" indent="0">
              <a:lnSpc>
                <a:spcPct val="125000"/>
              </a:lnSpc>
              <a:buNone/>
            </a:pPr>
            <a:r>
              <a:rPr lang="en-US" sz="1450" dirty="0">
                <a:solidFill>
                  <a:srgbClr val="1B1F29"/>
                </a:solidFill>
                <a:latin typeface="Calibri" pitchFamily="34" charset="0"/>
                <a:ea typeface="Calibri" pitchFamily="34" charset="-122"/>
                <a:cs typeface="Calibri" pitchFamily="34" charset="-120"/>
              </a:rPr>
              <a:t>Computer Vision (CV) is the field of Artificial Intelligence that enables machines to acquire, process, analyze, and interpret visual data — images and video — to extract meaningful information and make decisions, much like the human visual system.</a:t>
            </a:r>
            <a:endParaRPr lang="en-US" sz="1450" dirty="0"/>
          </a:p>
        </p:txBody>
      </p:sp>
      <p:sp>
        <p:nvSpPr>
          <p:cNvPr id="5" name="Shape 3"/>
          <p:cNvSpPr/>
          <p:nvPr/>
        </p:nvSpPr>
        <p:spPr>
          <a:xfrm>
            <a:off x="548640" y="2971800"/>
            <a:ext cx="5577840" cy="3063240"/>
          </a:xfrm>
          <a:prstGeom prst="roundRect">
            <a:avLst>
              <a:gd name="adj" fmla="val 2985"/>
            </a:avLst>
          </a:prstGeom>
          <a:solidFill>
            <a:srgbClr val="EAF1F5"/>
          </a:solidFill>
          <a:ln/>
        </p:spPr>
      </p:sp>
      <p:sp>
        <p:nvSpPr>
          <p:cNvPr id="6" name="Text 4"/>
          <p:cNvSpPr/>
          <p:nvPr/>
        </p:nvSpPr>
        <p:spPr>
          <a:xfrm>
            <a:off x="822960" y="3200400"/>
            <a:ext cx="502920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Core Goal</a:t>
            </a:r>
            <a:endParaRPr lang="en-US" sz="1400" dirty="0"/>
          </a:p>
        </p:txBody>
      </p:sp>
      <p:sp>
        <p:nvSpPr>
          <p:cNvPr id="7" name="Text 5"/>
          <p:cNvSpPr/>
          <p:nvPr/>
        </p:nvSpPr>
        <p:spPr>
          <a:xfrm>
            <a:off x="822960" y="3611880"/>
            <a:ext cx="5029200" cy="685800"/>
          </a:xfrm>
          <a:prstGeom prst="rect">
            <a:avLst/>
          </a:prstGeom>
          <a:noFill/>
          <a:ln/>
        </p:spPr>
        <p:txBody>
          <a:bodyPr wrap="square" rtlCol="0" anchor="ctr"/>
          <a:lstStyle/>
          <a:p>
            <a:pPr marL="0" indent="0">
              <a:lnSpc>
                <a:spcPct val="120000"/>
              </a:lnSpc>
              <a:buNone/>
            </a:pPr>
            <a:r>
              <a:rPr lang="en-US" sz="1250" dirty="0">
                <a:solidFill>
                  <a:srgbClr val="5C6470"/>
                </a:solidFill>
                <a:latin typeface="Calibri" pitchFamily="34" charset="0"/>
                <a:ea typeface="Calibri" pitchFamily="34" charset="-122"/>
                <a:cs typeface="Calibri" pitchFamily="34" charset="-120"/>
              </a:rPr>
              <a:t>Replicate and automate the human ability to perceive the visual world — turning raw pixels into structured, actionable understanding.</a:t>
            </a:r>
            <a:endParaRPr lang="en-US" sz="1250" dirty="0"/>
          </a:p>
        </p:txBody>
      </p:sp>
      <p:sp>
        <p:nvSpPr>
          <p:cNvPr id="8" name="Shape 6"/>
          <p:cNvSpPr/>
          <p:nvPr/>
        </p:nvSpPr>
        <p:spPr>
          <a:xfrm>
            <a:off x="822960" y="4434840"/>
            <a:ext cx="5029200" cy="0"/>
          </a:xfrm>
          <a:prstGeom prst="line">
            <a:avLst/>
          </a:prstGeom>
          <a:noFill/>
          <a:ln w="12700">
            <a:solidFill>
              <a:srgbClr val="D5E1E8"/>
            </a:solidFill>
            <a:prstDash val="solid"/>
          </a:ln>
        </p:spPr>
      </p:sp>
      <p:sp>
        <p:nvSpPr>
          <p:cNvPr id="9" name="Text 7"/>
          <p:cNvSpPr/>
          <p:nvPr/>
        </p:nvSpPr>
        <p:spPr>
          <a:xfrm>
            <a:off x="822960" y="4572000"/>
            <a:ext cx="502920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Foundational Techniques</a:t>
            </a:r>
            <a:endParaRPr lang="en-US" sz="1400" dirty="0"/>
          </a:p>
        </p:txBody>
      </p:sp>
      <p:sp>
        <p:nvSpPr>
          <p:cNvPr id="10" name="Text 8"/>
          <p:cNvSpPr/>
          <p:nvPr/>
        </p:nvSpPr>
        <p:spPr>
          <a:xfrm>
            <a:off x="822960" y="4956048"/>
            <a:ext cx="5029200" cy="914400"/>
          </a:xfrm>
          <a:prstGeom prst="rect">
            <a:avLst/>
          </a:prstGeom>
          <a:noFill/>
          <a:ln/>
        </p:spPr>
        <p:txBody>
          <a:bodyPr wrap="square" rtlCol="0" anchor="ctr"/>
          <a:lstStyle/>
          <a:p>
            <a:pPr marL="0" indent="0">
              <a:lnSpc>
                <a:spcPct val="120000"/>
              </a:lnSpc>
              <a:buNone/>
            </a:pPr>
            <a:r>
              <a:rPr lang="en-US" sz="1250" dirty="0">
                <a:solidFill>
                  <a:srgbClr val="5C6470"/>
                </a:solidFill>
                <a:latin typeface="Calibri" pitchFamily="34" charset="0"/>
                <a:ea typeface="Calibri" pitchFamily="34" charset="-122"/>
                <a:cs typeface="Calibri" pitchFamily="34" charset="-120"/>
              </a:rPr>
              <a:t>Convolutional Neural Networks (CNNs), image filtering, edge detection, and deep learning-based representation learning.</a:t>
            </a:r>
            <a:endParaRPr lang="en-US" sz="1250" dirty="0"/>
          </a:p>
        </p:txBody>
      </p:sp>
      <p:sp>
        <p:nvSpPr>
          <p:cNvPr id="11" name="Text 9"/>
          <p:cNvSpPr/>
          <p:nvPr/>
        </p:nvSpPr>
        <p:spPr>
          <a:xfrm>
            <a:off x="6446520" y="1463040"/>
            <a:ext cx="512064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The Basic Vision Pipeline</a:t>
            </a:r>
            <a:endParaRPr lang="en-US" sz="1400" dirty="0"/>
          </a:p>
        </p:txBody>
      </p:sp>
      <p:sp>
        <p:nvSpPr>
          <p:cNvPr id="12" name="Shape 10"/>
          <p:cNvSpPr/>
          <p:nvPr/>
        </p:nvSpPr>
        <p:spPr>
          <a:xfrm>
            <a:off x="6446520" y="1965960"/>
            <a:ext cx="5120640" cy="896112"/>
          </a:xfrm>
          <a:prstGeom prst="roundRect">
            <a:avLst>
              <a:gd name="adj" fmla="val 8163"/>
            </a:avLst>
          </a:prstGeom>
          <a:solidFill>
            <a:srgbClr val="FFFFFF"/>
          </a:solidFill>
          <a:ln w="12700">
            <a:solidFill>
              <a:srgbClr val="DCE6EC"/>
            </a:solidFill>
            <a:prstDash val="solid"/>
          </a:ln>
          <a:effectLst>
            <a:outerShdw blurRad="76200" dist="25400" dir="5400000" algn="bl" rotWithShape="0">
              <a:srgbClr val="1B1F29">
                <a:alpha val="12000"/>
              </a:srgbClr>
            </a:outerShdw>
          </a:effectLst>
        </p:spPr>
      </p:sp>
      <p:sp>
        <p:nvSpPr>
          <p:cNvPr id="13" name="Shape 11"/>
          <p:cNvSpPr/>
          <p:nvPr/>
        </p:nvSpPr>
        <p:spPr>
          <a:xfrm>
            <a:off x="6629400" y="2139696"/>
            <a:ext cx="548640" cy="548640"/>
          </a:xfrm>
          <a:prstGeom prst="ellipse">
            <a:avLst/>
          </a:prstGeom>
          <a:solidFill>
            <a:srgbClr val="EAF1F5"/>
          </a:solidFill>
          <a:ln/>
        </p:spPr>
      </p:sp>
      <p:pic>
        <p:nvPicPr>
          <p:cNvPr id="14" name="Image 0" descr="icons/camera_065A82.png"/>
          <p:cNvPicPr>
            <a:picLocks noChangeAspect="1"/>
          </p:cNvPicPr>
          <p:nvPr/>
        </p:nvPicPr>
        <p:blipFill>
          <a:blip r:embed="rId3"/>
          <a:stretch>
            <a:fillRect/>
          </a:stretch>
        </p:blipFill>
        <p:spPr>
          <a:xfrm>
            <a:off x="6739128" y="2249424"/>
            <a:ext cx="329184" cy="329184"/>
          </a:xfrm>
          <a:prstGeom prst="rect">
            <a:avLst/>
          </a:prstGeom>
        </p:spPr>
      </p:pic>
      <p:sp>
        <p:nvSpPr>
          <p:cNvPr id="15" name="Text 12"/>
          <p:cNvSpPr/>
          <p:nvPr/>
        </p:nvSpPr>
        <p:spPr>
          <a:xfrm>
            <a:off x="7360920" y="2075688"/>
            <a:ext cx="4023360" cy="365760"/>
          </a:xfrm>
          <a:prstGeom prst="rect">
            <a:avLst/>
          </a:prstGeom>
          <a:noFill/>
          <a:ln/>
        </p:spPr>
        <p:txBody>
          <a:bodyPr wrap="square" rtlCol="0" anchor="ctr"/>
          <a:lstStyle/>
          <a:p>
            <a:pPr marL="0" indent="0">
              <a:buNone/>
            </a:pPr>
            <a:r>
              <a:rPr lang="en-US" sz="1350" b="1" dirty="0">
                <a:solidFill>
                  <a:srgbClr val="1B1F29"/>
                </a:solidFill>
                <a:latin typeface="Calibri" pitchFamily="34" charset="0"/>
                <a:ea typeface="Calibri" pitchFamily="34" charset="-122"/>
                <a:cs typeface="Calibri" pitchFamily="34" charset="-120"/>
              </a:rPr>
              <a:t>Image Acquisition</a:t>
            </a:r>
            <a:endParaRPr lang="en-US" sz="1350" dirty="0"/>
          </a:p>
        </p:txBody>
      </p:sp>
      <p:sp>
        <p:nvSpPr>
          <p:cNvPr id="16" name="Text 13"/>
          <p:cNvSpPr/>
          <p:nvPr/>
        </p:nvSpPr>
        <p:spPr>
          <a:xfrm>
            <a:off x="7360920" y="2423160"/>
            <a:ext cx="4023360" cy="320040"/>
          </a:xfrm>
          <a:prstGeom prst="rect">
            <a:avLst/>
          </a:prstGeom>
          <a:noFill/>
          <a:ln/>
        </p:spPr>
        <p:txBody>
          <a:bodyPr wrap="square" rtlCol="0" anchor="ctr"/>
          <a:lstStyle/>
          <a:p>
            <a:pPr marL="0" indent="0">
              <a:buNone/>
            </a:pPr>
            <a:r>
              <a:rPr lang="en-US" sz="1100" dirty="0">
                <a:solidFill>
                  <a:srgbClr val="5C6470"/>
                </a:solidFill>
                <a:latin typeface="Calibri" pitchFamily="34" charset="0"/>
                <a:ea typeface="Calibri" pitchFamily="34" charset="-122"/>
                <a:cs typeface="Calibri" pitchFamily="34" charset="-120"/>
              </a:rPr>
              <a:t>Capture via camera / sensor</a:t>
            </a:r>
            <a:endParaRPr lang="en-US" sz="1100" dirty="0"/>
          </a:p>
        </p:txBody>
      </p:sp>
      <p:sp>
        <p:nvSpPr>
          <p:cNvPr id="17" name="Shape 14"/>
          <p:cNvSpPr/>
          <p:nvPr/>
        </p:nvSpPr>
        <p:spPr>
          <a:xfrm>
            <a:off x="7159752" y="2862072"/>
            <a:ext cx="182880" cy="182880"/>
          </a:xfrm>
          <a:prstGeom prst="downArrow">
            <a:avLst/>
          </a:prstGeom>
          <a:solidFill>
            <a:srgbClr val="1C7293"/>
          </a:solidFill>
          <a:ln/>
        </p:spPr>
      </p:sp>
      <p:sp>
        <p:nvSpPr>
          <p:cNvPr id="18" name="Shape 15"/>
          <p:cNvSpPr/>
          <p:nvPr/>
        </p:nvSpPr>
        <p:spPr>
          <a:xfrm>
            <a:off x="6446520" y="3044952"/>
            <a:ext cx="5120640" cy="896112"/>
          </a:xfrm>
          <a:prstGeom prst="roundRect">
            <a:avLst>
              <a:gd name="adj" fmla="val 8163"/>
            </a:avLst>
          </a:prstGeom>
          <a:solidFill>
            <a:srgbClr val="FFFFFF"/>
          </a:solidFill>
          <a:ln w="12700">
            <a:solidFill>
              <a:srgbClr val="DCE6EC"/>
            </a:solidFill>
            <a:prstDash val="solid"/>
          </a:ln>
          <a:effectLst>
            <a:outerShdw blurRad="76200" dist="25400" dir="5400000" algn="bl" rotWithShape="0">
              <a:srgbClr val="1B1F29">
                <a:alpha val="12000"/>
              </a:srgbClr>
            </a:outerShdw>
          </a:effectLst>
        </p:spPr>
      </p:sp>
      <p:sp>
        <p:nvSpPr>
          <p:cNvPr id="19" name="Shape 16"/>
          <p:cNvSpPr/>
          <p:nvPr/>
        </p:nvSpPr>
        <p:spPr>
          <a:xfrm>
            <a:off x="6629400" y="3218688"/>
            <a:ext cx="548640" cy="548640"/>
          </a:xfrm>
          <a:prstGeom prst="ellipse">
            <a:avLst/>
          </a:prstGeom>
          <a:solidFill>
            <a:srgbClr val="EAF1F5"/>
          </a:solidFill>
          <a:ln/>
        </p:spPr>
      </p:sp>
      <p:pic>
        <p:nvPicPr>
          <p:cNvPr id="20" name="Image 1" descr="icons/sliders_065A82.png"/>
          <p:cNvPicPr>
            <a:picLocks noChangeAspect="1"/>
          </p:cNvPicPr>
          <p:nvPr/>
        </p:nvPicPr>
        <p:blipFill>
          <a:blip r:embed="rId4"/>
          <a:stretch>
            <a:fillRect/>
          </a:stretch>
        </p:blipFill>
        <p:spPr>
          <a:xfrm>
            <a:off x="6739128" y="3328416"/>
            <a:ext cx="329184" cy="329184"/>
          </a:xfrm>
          <a:prstGeom prst="rect">
            <a:avLst/>
          </a:prstGeom>
        </p:spPr>
      </p:pic>
      <p:sp>
        <p:nvSpPr>
          <p:cNvPr id="21" name="Text 17"/>
          <p:cNvSpPr/>
          <p:nvPr/>
        </p:nvSpPr>
        <p:spPr>
          <a:xfrm>
            <a:off x="7360920" y="3154680"/>
            <a:ext cx="4023360" cy="365760"/>
          </a:xfrm>
          <a:prstGeom prst="rect">
            <a:avLst/>
          </a:prstGeom>
          <a:noFill/>
          <a:ln/>
        </p:spPr>
        <p:txBody>
          <a:bodyPr wrap="square" rtlCol="0" anchor="ctr"/>
          <a:lstStyle/>
          <a:p>
            <a:pPr marL="0" indent="0">
              <a:buNone/>
            </a:pPr>
            <a:r>
              <a:rPr lang="en-US" sz="1350" b="1" dirty="0">
                <a:solidFill>
                  <a:srgbClr val="1B1F29"/>
                </a:solidFill>
                <a:latin typeface="Calibri" pitchFamily="34" charset="0"/>
                <a:ea typeface="Calibri" pitchFamily="34" charset="-122"/>
                <a:cs typeface="Calibri" pitchFamily="34" charset="-120"/>
              </a:rPr>
              <a:t>Preprocessing</a:t>
            </a:r>
            <a:endParaRPr lang="en-US" sz="1350" dirty="0"/>
          </a:p>
        </p:txBody>
      </p:sp>
      <p:sp>
        <p:nvSpPr>
          <p:cNvPr id="22" name="Text 18"/>
          <p:cNvSpPr/>
          <p:nvPr/>
        </p:nvSpPr>
        <p:spPr>
          <a:xfrm>
            <a:off x="7360920" y="3502152"/>
            <a:ext cx="4023360" cy="320040"/>
          </a:xfrm>
          <a:prstGeom prst="rect">
            <a:avLst/>
          </a:prstGeom>
          <a:noFill/>
          <a:ln/>
        </p:spPr>
        <p:txBody>
          <a:bodyPr wrap="square" rtlCol="0" anchor="ctr"/>
          <a:lstStyle/>
          <a:p>
            <a:pPr marL="0" indent="0">
              <a:buNone/>
            </a:pPr>
            <a:r>
              <a:rPr lang="en-US" sz="1100" dirty="0">
                <a:solidFill>
                  <a:srgbClr val="5C6470"/>
                </a:solidFill>
                <a:latin typeface="Calibri" pitchFamily="34" charset="0"/>
                <a:ea typeface="Calibri" pitchFamily="34" charset="-122"/>
                <a:cs typeface="Calibri" pitchFamily="34" charset="-120"/>
              </a:rPr>
              <a:t>Noise removal, normalization</a:t>
            </a:r>
            <a:endParaRPr lang="en-US" sz="1100" dirty="0"/>
          </a:p>
        </p:txBody>
      </p:sp>
      <p:sp>
        <p:nvSpPr>
          <p:cNvPr id="23" name="Shape 19"/>
          <p:cNvSpPr/>
          <p:nvPr/>
        </p:nvSpPr>
        <p:spPr>
          <a:xfrm>
            <a:off x="7159752" y="3941064"/>
            <a:ext cx="182880" cy="182880"/>
          </a:xfrm>
          <a:prstGeom prst="downArrow">
            <a:avLst/>
          </a:prstGeom>
          <a:solidFill>
            <a:srgbClr val="1C7293"/>
          </a:solidFill>
          <a:ln/>
        </p:spPr>
      </p:sp>
      <p:sp>
        <p:nvSpPr>
          <p:cNvPr id="24" name="Shape 20"/>
          <p:cNvSpPr/>
          <p:nvPr/>
        </p:nvSpPr>
        <p:spPr>
          <a:xfrm>
            <a:off x="6446520" y="4123944"/>
            <a:ext cx="5120640" cy="896112"/>
          </a:xfrm>
          <a:prstGeom prst="roundRect">
            <a:avLst>
              <a:gd name="adj" fmla="val 8163"/>
            </a:avLst>
          </a:prstGeom>
          <a:solidFill>
            <a:srgbClr val="FFFFFF"/>
          </a:solidFill>
          <a:ln w="12700">
            <a:solidFill>
              <a:srgbClr val="DCE6EC"/>
            </a:solidFill>
            <a:prstDash val="solid"/>
          </a:ln>
          <a:effectLst>
            <a:outerShdw blurRad="76200" dist="25400" dir="5400000" algn="bl" rotWithShape="0">
              <a:srgbClr val="1B1F29">
                <a:alpha val="12000"/>
              </a:srgbClr>
            </a:outerShdw>
          </a:effectLst>
        </p:spPr>
      </p:sp>
      <p:sp>
        <p:nvSpPr>
          <p:cNvPr id="25" name="Shape 21"/>
          <p:cNvSpPr/>
          <p:nvPr/>
        </p:nvSpPr>
        <p:spPr>
          <a:xfrm>
            <a:off x="6629400" y="4297680"/>
            <a:ext cx="548640" cy="548640"/>
          </a:xfrm>
          <a:prstGeom prst="ellipse">
            <a:avLst/>
          </a:prstGeom>
          <a:solidFill>
            <a:srgbClr val="EAF1F5"/>
          </a:solidFill>
          <a:ln/>
        </p:spPr>
      </p:sp>
      <p:pic>
        <p:nvPicPr>
          <p:cNvPr id="26" name="Image 2" descr="icons/search_065A82.png"/>
          <p:cNvPicPr>
            <a:picLocks noChangeAspect="1"/>
          </p:cNvPicPr>
          <p:nvPr/>
        </p:nvPicPr>
        <p:blipFill>
          <a:blip r:embed="rId5"/>
          <a:stretch>
            <a:fillRect/>
          </a:stretch>
        </p:blipFill>
        <p:spPr>
          <a:xfrm>
            <a:off x="6739128" y="4407408"/>
            <a:ext cx="329184" cy="329184"/>
          </a:xfrm>
          <a:prstGeom prst="rect">
            <a:avLst/>
          </a:prstGeom>
        </p:spPr>
      </p:pic>
      <p:sp>
        <p:nvSpPr>
          <p:cNvPr id="27" name="Text 22"/>
          <p:cNvSpPr/>
          <p:nvPr/>
        </p:nvSpPr>
        <p:spPr>
          <a:xfrm>
            <a:off x="7360920" y="4233672"/>
            <a:ext cx="4023360" cy="365760"/>
          </a:xfrm>
          <a:prstGeom prst="rect">
            <a:avLst/>
          </a:prstGeom>
          <a:noFill/>
          <a:ln/>
        </p:spPr>
        <p:txBody>
          <a:bodyPr wrap="square" rtlCol="0" anchor="ctr"/>
          <a:lstStyle/>
          <a:p>
            <a:pPr marL="0" indent="0">
              <a:buNone/>
            </a:pPr>
            <a:r>
              <a:rPr lang="en-US" sz="1350" b="1" dirty="0">
                <a:solidFill>
                  <a:srgbClr val="1B1F29"/>
                </a:solidFill>
                <a:latin typeface="Calibri" pitchFamily="34" charset="0"/>
                <a:ea typeface="Calibri" pitchFamily="34" charset="-122"/>
                <a:cs typeface="Calibri" pitchFamily="34" charset="-120"/>
              </a:rPr>
              <a:t>Feature Extraction</a:t>
            </a:r>
            <a:endParaRPr lang="en-US" sz="1350" dirty="0"/>
          </a:p>
        </p:txBody>
      </p:sp>
      <p:sp>
        <p:nvSpPr>
          <p:cNvPr id="28" name="Text 23"/>
          <p:cNvSpPr/>
          <p:nvPr/>
        </p:nvSpPr>
        <p:spPr>
          <a:xfrm>
            <a:off x="7360920" y="4581144"/>
            <a:ext cx="4023360" cy="320040"/>
          </a:xfrm>
          <a:prstGeom prst="rect">
            <a:avLst/>
          </a:prstGeom>
          <a:noFill/>
          <a:ln/>
        </p:spPr>
        <p:txBody>
          <a:bodyPr wrap="square" rtlCol="0" anchor="ctr"/>
          <a:lstStyle/>
          <a:p>
            <a:pPr marL="0" indent="0">
              <a:buNone/>
            </a:pPr>
            <a:r>
              <a:rPr lang="en-US" sz="1100" dirty="0">
                <a:solidFill>
                  <a:srgbClr val="5C6470"/>
                </a:solidFill>
                <a:latin typeface="Calibri" pitchFamily="34" charset="0"/>
                <a:ea typeface="Calibri" pitchFamily="34" charset="-122"/>
                <a:cs typeface="Calibri" pitchFamily="34" charset="-120"/>
              </a:rPr>
              <a:t>Edges, shapes, textures</a:t>
            </a:r>
            <a:endParaRPr lang="en-US" sz="1100" dirty="0"/>
          </a:p>
        </p:txBody>
      </p:sp>
      <p:sp>
        <p:nvSpPr>
          <p:cNvPr id="29" name="Shape 24"/>
          <p:cNvSpPr/>
          <p:nvPr/>
        </p:nvSpPr>
        <p:spPr>
          <a:xfrm>
            <a:off x="7159752" y="5020056"/>
            <a:ext cx="182880" cy="182880"/>
          </a:xfrm>
          <a:prstGeom prst="downArrow">
            <a:avLst/>
          </a:prstGeom>
          <a:solidFill>
            <a:srgbClr val="1C7293"/>
          </a:solidFill>
          <a:ln/>
        </p:spPr>
      </p:sp>
      <p:sp>
        <p:nvSpPr>
          <p:cNvPr id="30" name="Shape 25"/>
          <p:cNvSpPr/>
          <p:nvPr/>
        </p:nvSpPr>
        <p:spPr>
          <a:xfrm>
            <a:off x="6446520" y="5202936"/>
            <a:ext cx="5120640" cy="896112"/>
          </a:xfrm>
          <a:prstGeom prst="roundRect">
            <a:avLst>
              <a:gd name="adj" fmla="val 8163"/>
            </a:avLst>
          </a:prstGeom>
          <a:solidFill>
            <a:srgbClr val="FFFFFF"/>
          </a:solidFill>
          <a:ln w="12700">
            <a:solidFill>
              <a:srgbClr val="DCE6EC"/>
            </a:solidFill>
            <a:prstDash val="solid"/>
          </a:ln>
          <a:effectLst>
            <a:outerShdw blurRad="76200" dist="25400" dir="5400000" algn="bl" rotWithShape="0">
              <a:srgbClr val="1B1F29">
                <a:alpha val="12000"/>
              </a:srgbClr>
            </a:outerShdw>
          </a:effectLst>
        </p:spPr>
      </p:sp>
      <p:sp>
        <p:nvSpPr>
          <p:cNvPr id="31" name="Shape 26"/>
          <p:cNvSpPr/>
          <p:nvPr/>
        </p:nvSpPr>
        <p:spPr>
          <a:xfrm>
            <a:off x="6629400" y="5376672"/>
            <a:ext cx="548640" cy="548640"/>
          </a:xfrm>
          <a:prstGeom prst="ellipse">
            <a:avLst/>
          </a:prstGeom>
          <a:solidFill>
            <a:srgbClr val="EAF1F5"/>
          </a:solidFill>
          <a:ln/>
        </p:spPr>
      </p:sp>
      <p:pic>
        <p:nvPicPr>
          <p:cNvPr id="32" name="Image 3" descr="icons/brain_065A82.png"/>
          <p:cNvPicPr>
            <a:picLocks noChangeAspect="1"/>
          </p:cNvPicPr>
          <p:nvPr/>
        </p:nvPicPr>
        <p:blipFill>
          <a:blip r:embed="rId6"/>
          <a:stretch>
            <a:fillRect/>
          </a:stretch>
        </p:blipFill>
        <p:spPr>
          <a:xfrm>
            <a:off x="6739128" y="5486400"/>
            <a:ext cx="329184" cy="329184"/>
          </a:xfrm>
          <a:prstGeom prst="rect">
            <a:avLst/>
          </a:prstGeom>
        </p:spPr>
      </p:pic>
      <p:sp>
        <p:nvSpPr>
          <p:cNvPr id="33" name="Text 27"/>
          <p:cNvSpPr/>
          <p:nvPr/>
        </p:nvSpPr>
        <p:spPr>
          <a:xfrm>
            <a:off x="7360920" y="5312664"/>
            <a:ext cx="4023360" cy="365760"/>
          </a:xfrm>
          <a:prstGeom prst="rect">
            <a:avLst/>
          </a:prstGeom>
          <a:noFill/>
          <a:ln/>
        </p:spPr>
        <p:txBody>
          <a:bodyPr wrap="square" rtlCol="0" anchor="ctr"/>
          <a:lstStyle/>
          <a:p>
            <a:pPr marL="0" indent="0">
              <a:buNone/>
            </a:pPr>
            <a:r>
              <a:rPr lang="en-US" sz="1350" b="1" dirty="0">
                <a:solidFill>
                  <a:srgbClr val="1B1F29"/>
                </a:solidFill>
                <a:latin typeface="Calibri" pitchFamily="34" charset="0"/>
                <a:ea typeface="Calibri" pitchFamily="34" charset="-122"/>
                <a:cs typeface="Calibri" pitchFamily="34" charset="-120"/>
              </a:rPr>
              <a:t>Interpretation</a:t>
            </a:r>
            <a:endParaRPr lang="en-US" sz="1350" dirty="0"/>
          </a:p>
        </p:txBody>
      </p:sp>
      <p:sp>
        <p:nvSpPr>
          <p:cNvPr id="34" name="Text 28"/>
          <p:cNvSpPr/>
          <p:nvPr/>
        </p:nvSpPr>
        <p:spPr>
          <a:xfrm>
            <a:off x="7360920" y="5660136"/>
            <a:ext cx="4023360" cy="320040"/>
          </a:xfrm>
          <a:prstGeom prst="rect">
            <a:avLst/>
          </a:prstGeom>
          <a:noFill/>
          <a:ln/>
        </p:spPr>
        <p:txBody>
          <a:bodyPr wrap="square" rtlCol="0" anchor="ctr"/>
          <a:lstStyle/>
          <a:p>
            <a:pPr marL="0" indent="0">
              <a:buNone/>
            </a:pPr>
            <a:r>
              <a:rPr lang="en-US" sz="1100" dirty="0">
                <a:solidFill>
                  <a:srgbClr val="5C6470"/>
                </a:solidFill>
                <a:latin typeface="Calibri" pitchFamily="34" charset="0"/>
                <a:ea typeface="Calibri" pitchFamily="34" charset="-122"/>
                <a:cs typeface="Calibri" pitchFamily="34" charset="-120"/>
              </a:rPr>
              <a:t>Classification &amp; decision</a:t>
            </a:r>
            <a:endParaRPr lang="en-US" sz="1100" dirty="0"/>
          </a:p>
        </p:txBody>
      </p:sp>
      <p:sp>
        <p:nvSpPr>
          <p:cNvPr id="35" name="Text 2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C647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02  ·  KEY FEATURES</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Key Features of Computer Vision</a:t>
            </a:r>
            <a:endParaRPr lang="en-US" sz="3000" dirty="0"/>
          </a:p>
        </p:txBody>
      </p:sp>
      <p:sp>
        <p:nvSpPr>
          <p:cNvPr id="4" name="Text 2"/>
          <p:cNvSpPr/>
          <p:nvPr/>
        </p:nvSpPr>
        <p:spPr>
          <a:xfrm>
            <a:off x="548640" y="1417320"/>
            <a:ext cx="10058400" cy="365760"/>
          </a:xfrm>
          <a:prstGeom prst="rect">
            <a:avLst/>
          </a:prstGeom>
          <a:noFill/>
          <a:ln/>
        </p:spPr>
        <p:txBody>
          <a:bodyPr wrap="square"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The core capabilities that let a system convert raw pixels into structured understanding.</a:t>
            </a:r>
            <a:endParaRPr lang="en-US" sz="1300" dirty="0"/>
          </a:p>
        </p:txBody>
      </p:sp>
      <p:sp>
        <p:nvSpPr>
          <p:cNvPr id="5" name="Shape 3"/>
          <p:cNvSpPr/>
          <p:nvPr/>
        </p:nvSpPr>
        <p:spPr>
          <a:xfrm>
            <a:off x="548640" y="1965960"/>
            <a:ext cx="3611880" cy="1965960"/>
          </a:xfrm>
          <a:prstGeom prst="roundRect">
            <a:avLst>
              <a:gd name="adj" fmla="val 3721"/>
            </a:avLst>
          </a:prstGeom>
          <a:solidFill>
            <a:srgbClr val="FFFFFF"/>
          </a:solidFill>
          <a:ln/>
          <a:effectLst>
            <a:outerShdw blurRad="101600" dist="38100" dir="5400000" algn="bl" rotWithShape="0">
              <a:srgbClr val="1B1F29">
                <a:alpha val="14000"/>
              </a:srgbClr>
            </a:outerShdw>
          </a:effectLst>
        </p:spPr>
      </p:sp>
      <p:sp>
        <p:nvSpPr>
          <p:cNvPr id="6" name="Shape 4"/>
          <p:cNvSpPr/>
          <p:nvPr/>
        </p:nvSpPr>
        <p:spPr>
          <a:xfrm>
            <a:off x="804672" y="2221992"/>
            <a:ext cx="566928" cy="566928"/>
          </a:xfrm>
          <a:prstGeom prst="ellipse">
            <a:avLst/>
          </a:prstGeom>
          <a:solidFill>
            <a:srgbClr val="EAF1F5"/>
          </a:solidFill>
          <a:ln/>
        </p:spPr>
      </p:sp>
      <p:pic>
        <p:nvPicPr>
          <p:cNvPr id="7" name="Image 0" descr="icons/tag_1C7293.png"/>
          <p:cNvPicPr>
            <a:picLocks noChangeAspect="1"/>
          </p:cNvPicPr>
          <p:nvPr/>
        </p:nvPicPr>
        <p:blipFill>
          <a:blip r:embed="rId3"/>
          <a:stretch>
            <a:fillRect/>
          </a:stretch>
        </p:blipFill>
        <p:spPr>
          <a:xfrm>
            <a:off x="923544" y="2340864"/>
            <a:ext cx="329184" cy="329184"/>
          </a:xfrm>
          <a:prstGeom prst="rect">
            <a:avLst/>
          </a:prstGeom>
        </p:spPr>
      </p:pic>
      <p:sp>
        <p:nvSpPr>
          <p:cNvPr id="8" name="Text 5"/>
          <p:cNvSpPr/>
          <p:nvPr/>
        </p:nvSpPr>
        <p:spPr>
          <a:xfrm>
            <a:off x="804672" y="2880360"/>
            <a:ext cx="3099816" cy="457200"/>
          </a:xfrm>
          <a:prstGeom prst="rect">
            <a:avLst/>
          </a:prstGeom>
          <a:noFill/>
          <a:ln/>
        </p:spPr>
        <p:txBody>
          <a:bodyPr wrap="square" rtlCol="0" anchor="ctr"/>
          <a:lstStyle/>
          <a:p>
            <a:pPr marL="0" indent="0">
              <a:buNone/>
            </a:pPr>
            <a:r>
              <a:rPr lang="en-US" sz="1400" b="1" dirty="0">
                <a:solidFill>
                  <a:srgbClr val="1B1F29"/>
                </a:solidFill>
                <a:latin typeface="Calibri" pitchFamily="34" charset="0"/>
                <a:ea typeface="Calibri" pitchFamily="34" charset="-122"/>
                <a:cs typeface="Calibri" pitchFamily="34" charset="-120"/>
              </a:rPr>
              <a:t>Image Classification</a:t>
            </a:r>
            <a:endParaRPr lang="en-US" sz="1400" dirty="0"/>
          </a:p>
        </p:txBody>
      </p:sp>
      <p:sp>
        <p:nvSpPr>
          <p:cNvPr id="9" name="Text 6"/>
          <p:cNvSpPr/>
          <p:nvPr/>
        </p:nvSpPr>
        <p:spPr>
          <a:xfrm>
            <a:off x="804672" y="3291840"/>
            <a:ext cx="3099816" cy="548640"/>
          </a:xfrm>
          <a:prstGeom prst="rect">
            <a:avLst/>
          </a:prstGeom>
          <a:noFill/>
          <a:ln/>
        </p:spPr>
        <p:txBody>
          <a:bodyPr wrap="square" rtlCol="0" anchor="ctr"/>
          <a:lstStyle/>
          <a:p>
            <a:pPr marL="0" indent="0">
              <a:lnSpc>
                <a:spcPct val="115000"/>
              </a:lnSpc>
              <a:buNone/>
            </a:pPr>
            <a:r>
              <a:rPr lang="en-US" sz="1100" dirty="0">
                <a:solidFill>
                  <a:srgbClr val="5C6470"/>
                </a:solidFill>
                <a:latin typeface="Calibri" pitchFamily="34" charset="0"/>
                <a:ea typeface="Calibri" pitchFamily="34" charset="-122"/>
                <a:cs typeface="Calibri" pitchFamily="34" charset="-120"/>
              </a:rPr>
              <a:t>Assigns a single label to an entire image (e.g. 'cat', 'road sign').</a:t>
            </a:r>
            <a:endParaRPr lang="en-US" sz="1100" dirty="0"/>
          </a:p>
        </p:txBody>
      </p:sp>
      <p:sp>
        <p:nvSpPr>
          <p:cNvPr id="10" name="Shape 7"/>
          <p:cNvSpPr/>
          <p:nvPr/>
        </p:nvSpPr>
        <p:spPr>
          <a:xfrm>
            <a:off x="4389120" y="1965960"/>
            <a:ext cx="3611880" cy="1965960"/>
          </a:xfrm>
          <a:prstGeom prst="roundRect">
            <a:avLst>
              <a:gd name="adj" fmla="val 3721"/>
            </a:avLst>
          </a:prstGeom>
          <a:solidFill>
            <a:srgbClr val="FFFFFF"/>
          </a:solidFill>
          <a:ln/>
          <a:effectLst>
            <a:outerShdw blurRad="101600" dist="38100" dir="5400000" algn="bl" rotWithShape="0">
              <a:srgbClr val="1B1F29">
                <a:alpha val="14000"/>
              </a:srgbClr>
            </a:outerShdw>
          </a:effectLst>
        </p:spPr>
      </p:sp>
      <p:sp>
        <p:nvSpPr>
          <p:cNvPr id="11" name="Shape 8"/>
          <p:cNvSpPr/>
          <p:nvPr/>
        </p:nvSpPr>
        <p:spPr>
          <a:xfrm>
            <a:off x="4645152" y="2221992"/>
            <a:ext cx="566928" cy="566928"/>
          </a:xfrm>
          <a:prstGeom prst="ellipse">
            <a:avLst/>
          </a:prstGeom>
          <a:solidFill>
            <a:srgbClr val="EAF1F5"/>
          </a:solidFill>
          <a:ln/>
        </p:spPr>
      </p:sp>
      <p:pic>
        <p:nvPicPr>
          <p:cNvPr id="12" name="Image 1" descr="icons/crosshair_1C7293.png"/>
          <p:cNvPicPr>
            <a:picLocks noChangeAspect="1"/>
          </p:cNvPicPr>
          <p:nvPr/>
        </p:nvPicPr>
        <p:blipFill>
          <a:blip r:embed="rId4"/>
          <a:stretch>
            <a:fillRect/>
          </a:stretch>
        </p:blipFill>
        <p:spPr>
          <a:xfrm>
            <a:off x="4764024" y="2340864"/>
            <a:ext cx="329184" cy="329184"/>
          </a:xfrm>
          <a:prstGeom prst="rect">
            <a:avLst/>
          </a:prstGeom>
        </p:spPr>
      </p:pic>
      <p:sp>
        <p:nvSpPr>
          <p:cNvPr id="13" name="Text 9"/>
          <p:cNvSpPr/>
          <p:nvPr/>
        </p:nvSpPr>
        <p:spPr>
          <a:xfrm>
            <a:off x="4645152" y="2880360"/>
            <a:ext cx="3099816" cy="457200"/>
          </a:xfrm>
          <a:prstGeom prst="rect">
            <a:avLst/>
          </a:prstGeom>
          <a:noFill/>
          <a:ln/>
        </p:spPr>
        <p:txBody>
          <a:bodyPr wrap="square" rtlCol="0" anchor="ctr"/>
          <a:lstStyle/>
          <a:p>
            <a:pPr marL="0" indent="0">
              <a:buNone/>
            </a:pPr>
            <a:r>
              <a:rPr lang="en-US" sz="1400" b="1" dirty="0">
                <a:solidFill>
                  <a:srgbClr val="1B1F29"/>
                </a:solidFill>
                <a:latin typeface="Calibri" pitchFamily="34" charset="0"/>
                <a:ea typeface="Calibri" pitchFamily="34" charset="-122"/>
                <a:cs typeface="Calibri" pitchFamily="34" charset="-120"/>
              </a:rPr>
              <a:t>Object Detection</a:t>
            </a:r>
            <a:endParaRPr lang="en-US" sz="1400" dirty="0"/>
          </a:p>
        </p:txBody>
      </p:sp>
      <p:sp>
        <p:nvSpPr>
          <p:cNvPr id="14" name="Text 10"/>
          <p:cNvSpPr/>
          <p:nvPr/>
        </p:nvSpPr>
        <p:spPr>
          <a:xfrm>
            <a:off x="4645152" y="3291840"/>
            <a:ext cx="3099816" cy="548640"/>
          </a:xfrm>
          <a:prstGeom prst="rect">
            <a:avLst/>
          </a:prstGeom>
          <a:noFill/>
          <a:ln/>
        </p:spPr>
        <p:txBody>
          <a:bodyPr wrap="square" rtlCol="0" anchor="ctr"/>
          <a:lstStyle/>
          <a:p>
            <a:pPr marL="0" indent="0">
              <a:lnSpc>
                <a:spcPct val="115000"/>
              </a:lnSpc>
              <a:buNone/>
            </a:pPr>
            <a:r>
              <a:rPr lang="en-US" sz="1100" dirty="0">
                <a:solidFill>
                  <a:srgbClr val="5C6470"/>
                </a:solidFill>
                <a:latin typeface="Calibri" pitchFamily="34" charset="0"/>
                <a:ea typeface="Calibri" pitchFamily="34" charset="-122"/>
                <a:cs typeface="Calibri" pitchFamily="34" charset="-120"/>
              </a:rPr>
              <a:t>Locates and labels multiple objects with bounding boxes in a scene.</a:t>
            </a:r>
            <a:endParaRPr lang="en-US" sz="1100" dirty="0"/>
          </a:p>
        </p:txBody>
      </p:sp>
      <p:sp>
        <p:nvSpPr>
          <p:cNvPr id="15" name="Shape 11"/>
          <p:cNvSpPr/>
          <p:nvPr/>
        </p:nvSpPr>
        <p:spPr>
          <a:xfrm>
            <a:off x="8229600" y="1965960"/>
            <a:ext cx="3611880" cy="1965960"/>
          </a:xfrm>
          <a:prstGeom prst="roundRect">
            <a:avLst>
              <a:gd name="adj" fmla="val 3721"/>
            </a:avLst>
          </a:prstGeom>
          <a:solidFill>
            <a:srgbClr val="FFFFFF"/>
          </a:solidFill>
          <a:ln/>
          <a:effectLst>
            <a:outerShdw blurRad="101600" dist="38100" dir="5400000" algn="bl" rotWithShape="0">
              <a:srgbClr val="1B1F29">
                <a:alpha val="14000"/>
              </a:srgbClr>
            </a:outerShdw>
          </a:effectLst>
        </p:spPr>
      </p:sp>
      <p:sp>
        <p:nvSpPr>
          <p:cNvPr id="16" name="Shape 12"/>
          <p:cNvSpPr/>
          <p:nvPr/>
        </p:nvSpPr>
        <p:spPr>
          <a:xfrm>
            <a:off x="8485632" y="2221992"/>
            <a:ext cx="566928" cy="566928"/>
          </a:xfrm>
          <a:prstGeom prst="ellipse">
            <a:avLst/>
          </a:prstGeom>
          <a:solidFill>
            <a:srgbClr val="EAF1F5"/>
          </a:solidFill>
          <a:ln/>
        </p:spPr>
      </p:sp>
      <p:pic>
        <p:nvPicPr>
          <p:cNvPr id="17" name="Image 2" descr="icons/layers_1C7293.png"/>
          <p:cNvPicPr>
            <a:picLocks noChangeAspect="1"/>
          </p:cNvPicPr>
          <p:nvPr/>
        </p:nvPicPr>
        <p:blipFill>
          <a:blip r:embed="rId5"/>
          <a:stretch>
            <a:fillRect/>
          </a:stretch>
        </p:blipFill>
        <p:spPr>
          <a:xfrm>
            <a:off x="8604504" y="2340864"/>
            <a:ext cx="329184" cy="329184"/>
          </a:xfrm>
          <a:prstGeom prst="rect">
            <a:avLst/>
          </a:prstGeom>
        </p:spPr>
      </p:pic>
      <p:sp>
        <p:nvSpPr>
          <p:cNvPr id="18" name="Text 13"/>
          <p:cNvSpPr/>
          <p:nvPr/>
        </p:nvSpPr>
        <p:spPr>
          <a:xfrm>
            <a:off x="8485632" y="2880360"/>
            <a:ext cx="3099816" cy="457200"/>
          </a:xfrm>
          <a:prstGeom prst="rect">
            <a:avLst/>
          </a:prstGeom>
          <a:noFill/>
          <a:ln/>
        </p:spPr>
        <p:txBody>
          <a:bodyPr wrap="square" rtlCol="0" anchor="ctr"/>
          <a:lstStyle/>
          <a:p>
            <a:pPr marL="0" indent="0">
              <a:buNone/>
            </a:pPr>
            <a:r>
              <a:rPr lang="en-US" sz="1400" b="1" dirty="0">
                <a:solidFill>
                  <a:srgbClr val="1B1F29"/>
                </a:solidFill>
                <a:latin typeface="Calibri" pitchFamily="34" charset="0"/>
                <a:ea typeface="Calibri" pitchFamily="34" charset="-122"/>
                <a:cs typeface="Calibri" pitchFamily="34" charset="-120"/>
              </a:rPr>
              <a:t>Image Segmentation</a:t>
            </a:r>
            <a:endParaRPr lang="en-US" sz="1400" dirty="0"/>
          </a:p>
        </p:txBody>
      </p:sp>
      <p:sp>
        <p:nvSpPr>
          <p:cNvPr id="19" name="Text 14"/>
          <p:cNvSpPr/>
          <p:nvPr/>
        </p:nvSpPr>
        <p:spPr>
          <a:xfrm>
            <a:off x="8485632" y="3291840"/>
            <a:ext cx="3099816" cy="548640"/>
          </a:xfrm>
          <a:prstGeom prst="rect">
            <a:avLst/>
          </a:prstGeom>
          <a:noFill/>
          <a:ln/>
        </p:spPr>
        <p:txBody>
          <a:bodyPr wrap="square" rtlCol="0" anchor="ctr"/>
          <a:lstStyle/>
          <a:p>
            <a:pPr marL="0" indent="0">
              <a:lnSpc>
                <a:spcPct val="115000"/>
              </a:lnSpc>
              <a:buNone/>
            </a:pPr>
            <a:r>
              <a:rPr lang="en-US" sz="1100" dirty="0">
                <a:solidFill>
                  <a:srgbClr val="5C6470"/>
                </a:solidFill>
                <a:latin typeface="Calibri" pitchFamily="34" charset="0"/>
                <a:ea typeface="Calibri" pitchFamily="34" charset="-122"/>
                <a:cs typeface="Calibri" pitchFamily="34" charset="-120"/>
              </a:rPr>
              <a:t>Classifies every pixel, separating objects from background precisely.</a:t>
            </a:r>
            <a:endParaRPr lang="en-US" sz="1100" dirty="0"/>
          </a:p>
        </p:txBody>
      </p:sp>
      <p:sp>
        <p:nvSpPr>
          <p:cNvPr id="20" name="Shape 15"/>
          <p:cNvSpPr/>
          <p:nvPr/>
        </p:nvSpPr>
        <p:spPr>
          <a:xfrm>
            <a:off x="548640" y="4160520"/>
            <a:ext cx="3611880" cy="1965960"/>
          </a:xfrm>
          <a:prstGeom prst="roundRect">
            <a:avLst>
              <a:gd name="adj" fmla="val 3721"/>
            </a:avLst>
          </a:prstGeom>
          <a:solidFill>
            <a:srgbClr val="FFFFFF"/>
          </a:solidFill>
          <a:ln/>
          <a:effectLst>
            <a:outerShdw blurRad="101600" dist="38100" dir="5400000" algn="bl" rotWithShape="0">
              <a:srgbClr val="1B1F29">
                <a:alpha val="14000"/>
              </a:srgbClr>
            </a:outerShdw>
          </a:effectLst>
        </p:spPr>
      </p:sp>
      <p:sp>
        <p:nvSpPr>
          <p:cNvPr id="21" name="Shape 16"/>
          <p:cNvSpPr/>
          <p:nvPr/>
        </p:nvSpPr>
        <p:spPr>
          <a:xfrm>
            <a:off x="804672" y="4416552"/>
            <a:ext cx="566928" cy="566928"/>
          </a:xfrm>
          <a:prstGeom prst="ellipse">
            <a:avLst/>
          </a:prstGeom>
          <a:solidFill>
            <a:srgbClr val="EAF1F5"/>
          </a:solidFill>
          <a:ln/>
        </p:spPr>
      </p:sp>
      <p:pic>
        <p:nvPicPr>
          <p:cNvPr id="22" name="Image 3" descr="icons/route_1C7293.png"/>
          <p:cNvPicPr>
            <a:picLocks noChangeAspect="1"/>
          </p:cNvPicPr>
          <p:nvPr/>
        </p:nvPicPr>
        <p:blipFill>
          <a:blip r:embed="rId6"/>
          <a:stretch>
            <a:fillRect/>
          </a:stretch>
        </p:blipFill>
        <p:spPr>
          <a:xfrm>
            <a:off x="923544" y="4535424"/>
            <a:ext cx="329184" cy="329184"/>
          </a:xfrm>
          <a:prstGeom prst="rect">
            <a:avLst/>
          </a:prstGeom>
        </p:spPr>
      </p:pic>
      <p:sp>
        <p:nvSpPr>
          <p:cNvPr id="23" name="Text 17"/>
          <p:cNvSpPr/>
          <p:nvPr/>
        </p:nvSpPr>
        <p:spPr>
          <a:xfrm>
            <a:off x="804672" y="5074920"/>
            <a:ext cx="3099816" cy="457200"/>
          </a:xfrm>
          <a:prstGeom prst="rect">
            <a:avLst/>
          </a:prstGeom>
          <a:noFill/>
          <a:ln/>
        </p:spPr>
        <p:txBody>
          <a:bodyPr wrap="square" rtlCol="0" anchor="ctr"/>
          <a:lstStyle/>
          <a:p>
            <a:pPr marL="0" indent="0">
              <a:buNone/>
            </a:pPr>
            <a:r>
              <a:rPr lang="en-US" sz="1400" b="1" dirty="0">
                <a:solidFill>
                  <a:srgbClr val="1B1F29"/>
                </a:solidFill>
                <a:latin typeface="Calibri" pitchFamily="34" charset="0"/>
                <a:ea typeface="Calibri" pitchFamily="34" charset="-122"/>
                <a:cs typeface="Calibri" pitchFamily="34" charset="-120"/>
              </a:rPr>
              <a:t>Object Tracking</a:t>
            </a:r>
            <a:endParaRPr lang="en-US" sz="1400" dirty="0"/>
          </a:p>
        </p:txBody>
      </p:sp>
      <p:sp>
        <p:nvSpPr>
          <p:cNvPr id="24" name="Text 18"/>
          <p:cNvSpPr/>
          <p:nvPr/>
        </p:nvSpPr>
        <p:spPr>
          <a:xfrm>
            <a:off x="804672" y="5486400"/>
            <a:ext cx="3099816" cy="548640"/>
          </a:xfrm>
          <a:prstGeom prst="rect">
            <a:avLst/>
          </a:prstGeom>
          <a:noFill/>
          <a:ln/>
        </p:spPr>
        <p:txBody>
          <a:bodyPr wrap="square" rtlCol="0" anchor="ctr"/>
          <a:lstStyle/>
          <a:p>
            <a:pPr marL="0" indent="0">
              <a:lnSpc>
                <a:spcPct val="115000"/>
              </a:lnSpc>
              <a:buNone/>
            </a:pPr>
            <a:r>
              <a:rPr lang="en-US" sz="1100" dirty="0">
                <a:solidFill>
                  <a:srgbClr val="5C6470"/>
                </a:solidFill>
                <a:latin typeface="Calibri" pitchFamily="34" charset="0"/>
                <a:ea typeface="Calibri" pitchFamily="34" charset="-122"/>
                <a:cs typeface="Calibri" pitchFamily="34" charset="-120"/>
              </a:rPr>
              <a:t>Follows an object's position across consecutive video frames.</a:t>
            </a:r>
            <a:endParaRPr lang="en-US" sz="1100" dirty="0"/>
          </a:p>
        </p:txBody>
      </p:sp>
      <p:sp>
        <p:nvSpPr>
          <p:cNvPr id="25" name="Shape 19"/>
          <p:cNvSpPr/>
          <p:nvPr/>
        </p:nvSpPr>
        <p:spPr>
          <a:xfrm>
            <a:off x="4389120" y="4160520"/>
            <a:ext cx="3611880" cy="1965960"/>
          </a:xfrm>
          <a:prstGeom prst="roundRect">
            <a:avLst>
              <a:gd name="adj" fmla="val 3721"/>
            </a:avLst>
          </a:prstGeom>
          <a:solidFill>
            <a:srgbClr val="FFFFFF"/>
          </a:solidFill>
          <a:ln/>
          <a:effectLst>
            <a:outerShdw blurRad="101600" dist="38100" dir="5400000" algn="bl" rotWithShape="0">
              <a:srgbClr val="1B1F29">
                <a:alpha val="14000"/>
              </a:srgbClr>
            </a:outerShdw>
          </a:effectLst>
        </p:spPr>
      </p:sp>
      <p:sp>
        <p:nvSpPr>
          <p:cNvPr id="26" name="Shape 20"/>
          <p:cNvSpPr/>
          <p:nvPr/>
        </p:nvSpPr>
        <p:spPr>
          <a:xfrm>
            <a:off x="4645152" y="4416552"/>
            <a:ext cx="566928" cy="566928"/>
          </a:xfrm>
          <a:prstGeom prst="ellipse">
            <a:avLst/>
          </a:prstGeom>
          <a:solidFill>
            <a:srgbClr val="EAF1F5"/>
          </a:solidFill>
          <a:ln/>
        </p:spPr>
      </p:sp>
      <p:pic>
        <p:nvPicPr>
          <p:cNvPr id="27" name="Image 4" descr="icons/eye_065A82.png"/>
          <p:cNvPicPr>
            <a:picLocks noChangeAspect="1"/>
          </p:cNvPicPr>
          <p:nvPr/>
        </p:nvPicPr>
        <p:blipFill>
          <a:blip r:embed="rId7"/>
          <a:stretch>
            <a:fillRect/>
          </a:stretch>
        </p:blipFill>
        <p:spPr>
          <a:xfrm>
            <a:off x="4764024" y="4535424"/>
            <a:ext cx="329184" cy="329184"/>
          </a:xfrm>
          <a:prstGeom prst="rect">
            <a:avLst/>
          </a:prstGeom>
        </p:spPr>
      </p:pic>
      <p:sp>
        <p:nvSpPr>
          <p:cNvPr id="28" name="Text 21"/>
          <p:cNvSpPr/>
          <p:nvPr/>
        </p:nvSpPr>
        <p:spPr>
          <a:xfrm>
            <a:off x="4645152" y="5074920"/>
            <a:ext cx="3099816" cy="457200"/>
          </a:xfrm>
          <a:prstGeom prst="rect">
            <a:avLst/>
          </a:prstGeom>
          <a:noFill/>
          <a:ln/>
        </p:spPr>
        <p:txBody>
          <a:bodyPr wrap="square" rtlCol="0" anchor="ctr"/>
          <a:lstStyle/>
          <a:p>
            <a:pPr marL="0" indent="0">
              <a:buNone/>
            </a:pPr>
            <a:r>
              <a:rPr lang="en-US" sz="1400" b="1" dirty="0">
                <a:solidFill>
                  <a:srgbClr val="1B1F29"/>
                </a:solidFill>
                <a:latin typeface="Calibri" pitchFamily="34" charset="0"/>
                <a:ea typeface="Calibri" pitchFamily="34" charset="-122"/>
                <a:cs typeface="Calibri" pitchFamily="34" charset="-120"/>
              </a:rPr>
              <a:t>Facial / Pattern Recognition</a:t>
            </a:r>
            <a:endParaRPr lang="en-US" sz="1400" dirty="0"/>
          </a:p>
        </p:txBody>
      </p:sp>
      <p:sp>
        <p:nvSpPr>
          <p:cNvPr id="29" name="Text 22"/>
          <p:cNvSpPr/>
          <p:nvPr/>
        </p:nvSpPr>
        <p:spPr>
          <a:xfrm>
            <a:off x="4645152" y="5486400"/>
            <a:ext cx="3099816" cy="548640"/>
          </a:xfrm>
          <a:prstGeom prst="rect">
            <a:avLst/>
          </a:prstGeom>
          <a:noFill/>
          <a:ln/>
        </p:spPr>
        <p:txBody>
          <a:bodyPr wrap="square" rtlCol="0" anchor="ctr"/>
          <a:lstStyle/>
          <a:p>
            <a:pPr marL="0" indent="0">
              <a:lnSpc>
                <a:spcPct val="115000"/>
              </a:lnSpc>
              <a:buNone/>
            </a:pPr>
            <a:r>
              <a:rPr lang="en-US" sz="1100" dirty="0">
                <a:solidFill>
                  <a:srgbClr val="5C6470"/>
                </a:solidFill>
                <a:latin typeface="Calibri" pitchFamily="34" charset="0"/>
                <a:ea typeface="Calibri" pitchFamily="34" charset="-122"/>
                <a:cs typeface="Calibri" pitchFamily="34" charset="-120"/>
              </a:rPr>
              <a:t>Identifies faces, gestures, or recurring visual patterns.</a:t>
            </a:r>
            <a:endParaRPr lang="en-US" sz="1100" dirty="0"/>
          </a:p>
        </p:txBody>
      </p:sp>
      <p:sp>
        <p:nvSpPr>
          <p:cNvPr id="30" name="Shape 23"/>
          <p:cNvSpPr/>
          <p:nvPr/>
        </p:nvSpPr>
        <p:spPr>
          <a:xfrm>
            <a:off x="8229600" y="4160520"/>
            <a:ext cx="3611880" cy="1965960"/>
          </a:xfrm>
          <a:prstGeom prst="roundRect">
            <a:avLst>
              <a:gd name="adj" fmla="val 3721"/>
            </a:avLst>
          </a:prstGeom>
          <a:solidFill>
            <a:srgbClr val="21295C"/>
          </a:solidFill>
          <a:ln/>
          <a:effectLst>
            <a:outerShdw blurRad="101600" dist="38100" dir="5400000" algn="bl" rotWithShape="0">
              <a:srgbClr val="1B1F29">
                <a:alpha val="14000"/>
              </a:srgbClr>
            </a:outerShdw>
          </a:effectLst>
        </p:spPr>
      </p:sp>
      <p:sp>
        <p:nvSpPr>
          <p:cNvPr id="31" name="Shape 24"/>
          <p:cNvSpPr/>
          <p:nvPr/>
        </p:nvSpPr>
        <p:spPr>
          <a:xfrm>
            <a:off x="8485632" y="4416552"/>
            <a:ext cx="566928" cy="566928"/>
          </a:xfrm>
          <a:prstGeom prst="ellipse">
            <a:avLst/>
          </a:prstGeom>
          <a:solidFill>
            <a:srgbClr val="065A82"/>
          </a:solidFill>
          <a:ln/>
        </p:spPr>
      </p:sp>
      <p:pic>
        <p:nvPicPr>
          <p:cNvPr id="32" name="Image 5" descr="icons/cpu_FFFFFF.png"/>
          <p:cNvPicPr>
            <a:picLocks noChangeAspect="1"/>
          </p:cNvPicPr>
          <p:nvPr/>
        </p:nvPicPr>
        <p:blipFill>
          <a:blip r:embed="rId8"/>
          <a:stretch>
            <a:fillRect/>
          </a:stretch>
        </p:blipFill>
        <p:spPr>
          <a:xfrm>
            <a:off x="8604504" y="4535424"/>
            <a:ext cx="329184" cy="329184"/>
          </a:xfrm>
          <a:prstGeom prst="rect">
            <a:avLst/>
          </a:prstGeom>
        </p:spPr>
      </p:pic>
      <p:sp>
        <p:nvSpPr>
          <p:cNvPr id="33" name="Text 25"/>
          <p:cNvSpPr/>
          <p:nvPr/>
        </p:nvSpPr>
        <p:spPr>
          <a:xfrm>
            <a:off x="8485632" y="5074920"/>
            <a:ext cx="3099816"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Scene Understanding</a:t>
            </a:r>
            <a:endParaRPr lang="en-US" sz="1400" dirty="0"/>
          </a:p>
        </p:txBody>
      </p:sp>
      <p:sp>
        <p:nvSpPr>
          <p:cNvPr id="34" name="Text 26"/>
          <p:cNvSpPr/>
          <p:nvPr/>
        </p:nvSpPr>
        <p:spPr>
          <a:xfrm>
            <a:off x="8485632" y="5486400"/>
            <a:ext cx="3099816" cy="548640"/>
          </a:xfrm>
          <a:prstGeom prst="rect">
            <a:avLst/>
          </a:prstGeom>
          <a:noFill/>
          <a:ln/>
        </p:spPr>
        <p:txBody>
          <a:bodyPr wrap="square" rtlCol="0" anchor="ctr"/>
          <a:lstStyle/>
          <a:p>
            <a:pPr marL="0" indent="0">
              <a:lnSpc>
                <a:spcPct val="115000"/>
              </a:lnSpc>
              <a:buNone/>
            </a:pPr>
            <a:r>
              <a:rPr lang="en-US" sz="1100" dirty="0">
                <a:solidFill>
                  <a:srgbClr val="CADCFC"/>
                </a:solidFill>
                <a:latin typeface="Calibri" pitchFamily="34" charset="0"/>
                <a:ea typeface="Calibri" pitchFamily="34" charset="-122"/>
                <a:cs typeface="Calibri" pitchFamily="34" charset="-120"/>
              </a:rPr>
              <a:t>Combines detections into contextual, real-world interpretation.</a:t>
            </a:r>
            <a:endParaRPr lang="en-US" sz="1100" dirty="0"/>
          </a:p>
        </p:txBody>
      </p:sp>
      <p:sp>
        <p:nvSpPr>
          <p:cNvPr id="35" name="Text 2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C647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9FD3E8"/>
                </a:solidFill>
                <a:latin typeface="Calibri" pitchFamily="34" charset="0"/>
                <a:ea typeface="Calibri" pitchFamily="34" charset="-122"/>
                <a:cs typeface="Calibri" pitchFamily="34" charset="-120"/>
              </a:rPr>
              <a:t>03  ·  IMPORTANCE</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Computer Vision Matters</a:t>
            </a:r>
            <a:endParaRPr lang="en-US" sz="3000" dirty="0"/>
          </a:p>
        </p:txBody>
      </p:sp>
      <p:sp>
        <p:nvSpPr>
          <p:cNvPr id="4" name="Text 2"/>
          <p:cNvSpPr/>
          <p:nvPr/>
        </p:nvSpPr>
        <p:spPr>
          <a:xfrm>
            <a:off x="548640" y="1463040"/>
            <a:ext cx="10424160" cy="502920"/>
          </a:xfrm>
          <a:prstGeom prst="rect">
            <a:avLst/>
          </a:prstGeom>
          <a:noFill/>
          <a:ln/>
        </p:spPr>
        <p:txBody>
          <a:bodyPr wrap="square" rtlCol="0" anchor="ctr"/>
          <a:lstStyle/>
          <a:p>
            <a:pPr marL="0" indent="0">
              <a:lnSpc>
                <a:spcPct val="120000"/>
              </a:lnSpc>
              <a:buNone/>
            </a:pPr>
            <a:r>
              <a:rPr lang="en-US" sz="1350" dirty="0">
                <a:solidFill>
                  <a:srgbClr val="CADCFC"/>
                </a:solidFill>
                <a:latin typeface="Calibri" pitchFamily="34" charset="0"/>
                <a:ea typeface="Calibri" pitchFamily="34" charset="-122"/>
                <a:cs typeface="Calibri" pitchFamily="34" charset="-120"/>
              </a:rPr>
              <a:t>Vision is the richest data channel humans use to understand the world — automating it unlocks scale, speed, and precision no manual process can match.</a:t>
            </a:r>
            <a:endParaRPr lang="en-US" sz="1350" dirty="0"/>
          </a:p>
        </p:txBody>
      </p:sp>
      <p:sp>
        <p:nvSpPr>
          <p:cNvPr id="5" name="Shape 3"/>
          <p:cNvSpPr/>
          <p:nvPr/>
        </p:nvSpPr>
        <p:spPr>
          <a:xfrm>
            <a:off x="548640" y="2377440"/>
            <a:ext cx="2084832" cy="3200400"/>
          </a:xfrm>
          <a:prstGeom prst="roundRect">
            <a:avLst>
              <a:gd name="adj" fmla="val 3509"/>
            </a:avLst>
          </a:prstGeom>
          <a:solidFill>
            <a:srgbClr val="FFFFFF"/>
          </a:solidFill>
          <a:ln/>
        </p:spPr>
      </p:sp>
      <p:sp>
        <p:nvSpPr>
          <p:cNvPr id="6" name="Shape 4"/>
          <p:cNvSpPr/>
          <p:nvPr/>
        </p:nvSpPr>
        <p:spPr>
          <a:xfrm>
            <a:off x="713232" y="2633472"/>
            <a:ext cx="566928" cy="566928"/>
          </a:xfrm>
          <a:prstGeom prst="ellipse">
            <a:avLst/>
          </a:prstGeom>
          <a:solidFill>
            <a:srgbClr val="EAF1F5"/>
          </a:solidFill>
          <a:ln/>
        </p:spPr>
      </p:sp>
      <p:pic>
        <p:nvPicPr>
          <p:cNvPr id="7" name="Image 0" descr="icons/cog_21295C.png"/>
          <p:cNvPicPr>
            <a:picLocks noChangeAspect="1"/>
          </p:cNvPicPr>
          <p:nvPr/>
        </p:nvPicPr>
        <p:blipFill>
          <a:blip r:embed="rId3"/>
          <a:stretch>
            <a:fillRect/>
          </a:stretch>
        </p:blipFill>
        <p:spPr>
          <a:xfrm>
            <a:off x="832104" y="2752344"/>
            <a:ext cx="329184" cy="329184"/>
          </a:xfrm>
          <a:prstGeom prst="rect">
            <a:avLst/>
          </a:prstGeom>
        </p:spPr>
      </p:pic>
      <p:sp>
        <p:nvSpPr>
          <p:cNvPr id="8" name="Text 5"/>
          <p:cNvSpPr/>
          <p:nvPr/>
        </p:nvSpPr>
        <p:spPr>
          <a:xfrm>
            <a:off x="713232" y="3337560"/>
            <a:ext cx="1755648" cy="594360"/>
          </a:xfrm>
          <a:prstGeom prst="rect">
            <a:avLst/>
          </a:prstGeom>
          <a:noFill/>
          <a:ln/>
        </p:spPr>
        <p:txBody>
          <a:bodyPr wrap="square" rtlCol="0" anchor="ctr"/>
          <a:lstStyle/>
          <a:p>
            <a:pPr marL="0" indent="0">
              <a:lnSpc>
                <a:spcPct val="105000"/>
              </a:lnSpc>
              <a:buNone/>
            </a:pPr>
            <a:r>
              <a:rPr lang="en-US" sz="1450" b="1" dirty="0">
                <a:solidFill>
                  <a:srgbClr val="21295C"/>
                </a:solidFill>
                <a:latin typeface="Calibri" pitchFamily="34" charset="0"/>
                <a:ea typeface="Calibri" pitchFamily="34" charset="-122"/>
                <a:cs typeface="Calibri" pitchFamily="34" charset="-120"/>
              </a:rPr>
              <a:t>Automation</a:t>
            </a:r>
            <a:endParaRPr lang="en-US" sz="1450" dirty="0"/>
          </a:p>
        </p:txBody>
      </p:sp>
      <p:sp>
        <p:nvSpPr>
          <p:cNvPr id="9" name="Text 6"/>
          <p:cNvSpPr/>
          <p:nvPr/>
        </p:nvSpPr>
        <p:spPr>
          <a:xfrm>
            <a:off x="713232" y="3977640"/>
            <a:ext cx="1755648" cy="1463040"/>
          </a:xfrm>
          <a:prstGeom prst="rect">
            <a:avLst/>
          </a:prstGeom>
          <a:noFill/>
          <a:ln/>
        </p:spPr>
        <p:txBody>
          <a:bodyPr wrap="square" rtlCol="0" anchor="ctr"/>
          <a:lstStyle/>
          <a:p>
            <a:pPr marL="0" indent="0">
              <a:lnSpc>
                <a:spcPct val="120000"/>
              </a:lnSpc>
              <a:buNone/>
            </a:pPr>
            <a:r>
              <a:rPr lang="en-US" sz="1100" dirty="0">
                <a:solidFill>
                  <a:srgbClr val="5C6470"/>
                </a:solidFill>
                <a:latin typeface="Calibri" pitchFamily="34" charset="0"/>
                <a:ea typeface="Calibri" pitchFamily="34" charset="-122"/>
                <a:cs typeface="Calibri" pitchFamily="34" charset="-120"/>
              </a:rPr>
              <a:t>Reduces manual visual inspection in manufacturing &amp; QA</a:t>
            </a:r>
            <a:endParaRPr lang="en-US" sz="1100" dirty="0"/>
          </a:p>
        </p:txBody>
      </p:sp>
      <p:sp>
        <p:nvSpPr>
          <p:cNvPr id="10" name="Shape 7"/>
          <p:cNvSpPr/>
          <p:nvPr/>
        </p:nvSpPr>
        <p:spPr>
          <a:xfrm>
            <a:off x="2807208" y="2377440"/>
            <a:ext cx="2084832" cy="3200400"/>
          </a:xfrm>
          <a:prstGeom prst="roundRect">
            <a:avLst>
              <a:gd name="adj" fmla="val 3509"/>
            </a:avLst>
          </a:prstGeom>
          <a:solidFill>
            <a:srgbClr val="FFFFFF"/>
          </a:solidFill>
          <a:ln/>
        </p:spPr>
      </p:sp>
      <p:sp>
        <p:nvSpPr>
          <p:cNvPr id="11" name="Shape 8"/>
          <p:cNvSpPr/>
          <p:nvPr/>
        </p:nvSpPr>
        <p:spPr>
          <a:xfrm>
            <a:off x="2971800" y="2633472"/>
            <a:ext cx="566928" cy="566928"/>
          </a:xfrm>
          <a:prstGeom prst="ellipse">
            <a:avLst/>
          </a:prstGeom>
          <a:solidFill>
            <a:srgbClr val="EAF1F5"/>
          </a:solidFill>
          <a:ln/>
        </p:spPr>
      </p:sp>
      <p:pic>
        <p:nvPicPr>
          <p:cNvPr id="12" name="Image 1" descr="icons/pulse_21295C.png"/>
          <p:cNvPicPr>
            <a:picLocks noChangeAspect="1"/>
          </p:cNvPicPr>
          <p:nvPr/>
        </p:nvPicPr>
        <p:blipFill>
          <a:blip r:embed="rId4"/>
          <a:stretch>
            <a:fillRect/>
          </a:stretch>
        </p:blipFill>
        <p:spPr>
          <a:xfrm>
            <a:off x="3090672" y="2752344"/>
            <a:ext cx="329184" cy="329184"/>
          </a:xfrm>
          <a:prstGeom prst="rect">
            <a:avLst/>
          </a:prstGeom>
        </p:spPr>
      </p:pic>
      <p:sp>
        <p:nvSpPr>
          <p:cNvPr id="13" name="Text 9"/>
          <p:cNvSpPr/>
          <p:nvPr/>
        </p:nvSpPr>
        <p:spPr>
          <a:xfrm>
            <a:off x="2971800" y="3337560"/>
            <a:ext cx="1755648" cy="594360"/>
          </a:xfrm>
          <a:prstGeom prst="rect">
            <a:avLst/>
          </a:prstGeom>
          <a:noFill/>
          <a:ln/>
        </p:spPr>
        <p:txBody>
          <a:bodyPr wrap="square" rtlCol="0" anchor="ctr"/>
          <a:lstStyle/>
          <a:p>
            <a:pPr marL="0" indent="0">
              <a:lnSpc>
                <a:spcPct val="105000"/>
              </a:lnSpc>
              <a:buNone/>
            </a:pPr>
            <a:r>
              <a:rPr lang="en-US" sz="1450" b="1" dirty="0">
                <a:solidFill>
                  <a:srgbClr val="21295C"/>
                </a:solidFill>
                <a:latin typeface="Calibri" pitchFamily="34" charset="0"/>
                <a:ea typeface="Calibri" pitchFamily="34" charset="-122"/>
                <a:cs typeface="Calibri" pitchFamily="34" charset="-120"/>
              </a:rPr>
              <a:t>Healthcare</a:t>
            </a:r>
            <a:endParaRPr lang="en-US" sz="1450" dirty="0"/>
          </a:p>
        </p:txBody>
      </p:sp>
      <p:sp>
        <p:nvSpPr>
          <p:cNvPr id="14" name="Text 10"/>
          <p:cNvSpPr/>
          <p:nvPr/>
        </p:nvSpPr>
        <p:spPr>
          <a:xfrm>
            <a:off x="2971800" y="3977640"/>
            <a:ext cx="1755648" cy="1463040"/>
          </a:xfrm>
          <a:prstGeom prst="rect">
            <a:avLst/>
          </a:prstGeom>
          <a:noFill/>
          <a:ln/>
        </p:spPr>
        <p:txBody>
          <a:bodyPr wrap="square" rtlCol="0" anchor="ctr"/>
          <a:lstStyle/>
          <a:p>
            <a:pPr marL="0" indent="0">
              <a:lnSpc>
                <a:spcPct val="120000"/>
              </a:lnSpc>
              <a:buNone/>
            </a:pPr>
            <a:r>
              <a:rPr lang="en-US" sz="1100" dirty="0">
                <a:solidFill>
                  <a:srgbClr val="5C6470"/>
                </a:solidFill>
                <a:latin typeface="Calibri" pitchFamily="34" charset="0"/>
                <a:ea typeface="Calibri" pitchFamily="34" charset="-122"/>
                <a:cs typeface="Calibri" pitchFamily="34" charset="-120"/>
              </a:rPr>
              <a:t>Assists diagnosis via medical image analysis (X-ray, MRI)</a:t>
            </a:r>
            <a:endParaRPr lang="en-US" sz="1100" dirty="0"/>
          </a:p>
        </p:txBody>
      </p:sp>
      <p:sp>
        <p:nvSpPr>
          <p:cNvPr id="15" name="Shape 11"/>
          <p:cNvSpPr/>
          <p:nvPr/>
        </p:nvSpPr>
        <p:spPr>
          <a:xfrm>
            <a:off x="5065776" y="2377440"/>
            <a:ext cx="2084832" cy="3200400"/>
          </a:xfrm>
          <a:prstGeom prst="roundRect">
            <a:avLst>
              <a:gd name="adj" fmla="val 3509"/>
            </a:avLst>
          </a:prstGeom>
          <a:solidFill>
            <a:srgbClr val="FFFFFF"/>
          </a:solidFill>
          <a:ln/>
        </p:spPr>
      </p:sp>
      <p:sp>
        <p:nvSpPr>
          <p:cNvPr id="16" name="Shape 12"/>
          <p:cNvSpPr/>
          <p:nvPr/>
        </p:nvSpPr>
        <p:spPr>
          <a:xfrm>
            <a:off x="5230368" y="2633472"/>
            <a:ext cx="566928" cy="566928"/>
          </a:xfrm>
          <a:prstGeom prst="ellipse">
            <a:avLst/>
          </a:prstGeom>
          <a:solidFill>
            <a:srgbClr val="EAF1F5"/>
          </a:solidFill>
          <a:ln/>
        </p:spPr>
      </p:sp>
      <p:pic>
        <p:nvPicPr>
          <p:cNvPr id="17" name="Image 2" descr="icons/shield_21295C.png"/>
          <p:cNvPicPr>
            <a:picLocks noChangeAspect="1"/>
          </p:cNvPicPr>
          <p:nvPr/>
        </p:nvPicPr>
        <p:blipFill>
          <a:blip r:embed="rId5"/>
          <a:stretch>
            <a:fillRect/>
          </a:stretch>
        </p:blipFill>
        <p:spPr>
          <a:xfrm>
            <a:off x="5349240" y="2752344"/>
            <a:ext cx="329184" cy="329184"/>
          </a:xfrm>
          <a:prstGeom prst="rect">
            <a:avLst/>
          </a:prstGeom>
        </p:spPr>
      </p:pic>
      <p:sp>
        <p:nvSpPr>
          <p:cNvPr id="18" name="Text 13"/>
          <p:cNvSpPr/>
          <p:nvPr/>
        </p:nvSpPr>
        <p:spPr>
          <a:xfrm>
            <a:off x="5230368" y="3337560"/>
            <a:ext cx="1755648" cy="594360"/>
          </a:xfrm>
          <a:prstGeom prst="rect">
            <a:avLst/>
          </a:prstGeom>
          <a:noFill/>
          <a:ln/>
        </p:spPr>
        <p:txBody>
          <a:bodyPr wrap="square" rtlCol="0" anchor="ctr"/>
          <a:lstStyle/>
          <a:p>
            <a:pPr marL="0" indent="0">
              <a:lnSpc>
                <a:spcPct val="105000"/>
              </a:lnSpc>
              <a:buNone/>
            </a:pPr>
            <a:r>
              <a:rPr lang="en-US" sz="1450" b="1" dirty="0">
                <a:solidFill>
                  <a:srgbClr val="21295C"/>
                </a:solidFill>
                <a:latin typeface="Calibri" pitchFamily="34" charset="0"/>
                <a:ea typeface="Calibri" pitchFamily="34" charset="-122"/>
                <a:cs typeface="Calibri" pitchFamily="34" charset="-120"/>
              </a:rPr>
              <a:t>Security</a:t>
            </a:r>
            <a:endParaRPr lang="en-US" sz="1450" dirty="0"/>
          </a:p>
        </p:txBody>
      </p:sp>
      <p:sp>
        <p:nvSpPr>
          <p:cNvPr id="19" name="Text 14"/>
          <p:cNvSpPr/>
          <p:nvPr/>
        </p:nvSpPr>
        <p:spPr>
          <a:xfrm>
            <a:off x="5230368" y="3977640"/>
            <a:ext cx="1755648" cy="1463040"/>
          </a:xfrm>
          <a:prstGeom prst="rect">
            <a:avLst/>
          </a:prstGeom>
          <a:noFill/>
          <a:ln/>
        </p:spPr>
        <p:txBody>
          <a:bodyPr wrap="square" rtlCol="0" anchor="ctr"/>
          <a:lstStyle/>
          <a:p>
            <a:pPr marL="0" indent="0">
              <a:lnSpc>
                <a:spcPct val="120000"/>
              </a:lnSpc>
              <a:buNone/>
            </a:pPr>
            <a:r>
              <a:rPr lang="en-US" sz="1100" dirty="0">
                <a:solidFill>
                  <a:srgbClr val="5C6470"/>
                </a:solidFill>
                <a:latin typeface="Calibri" pitchFamily="34" charset="0"/>
                <a:ea typeface="Calibri" pitchFamily="34" charset="-122"/>
                <a:cs typeface="Calibri" pitchFamily="34" charset="-120"/>
              </a:rPr>
              <a:t>Powers surveillance, biometric &amp; anomaly detection systems</a:t>
            </a:r>
            <a:endParaRPr lang="en-US" sz="1100" dirty="0"/>
          </a:p>
        </p:txBody>
      </p:sp>
      <p:sp>
        <p:nvSpPr>
          <p:cNvPr id="20" name="Shape 15"/>
          <p:cNvSpPr/>
          <p:nvPr/>
        </p:nvSpPr>
        <p:spPr>
          <a:xfrm>
            <a:off x="7324344" y="2377440"/>
            <a:ext cx="2084832" cy="3200400"/>
          </a:xfrm>
          <a:prstGeom prst="roundRect">
            <a:avLst>
              <a:gd name="adj" fmla="val 3509"/>
            </a:avLst>
          </a:prstGeom>
          <a:solidFill>
            <a:srgbClr val="FFFFFF"/>
          </a:solidFill>
          <a:ln/>
        </p:spPr>
      </p:sp>
      <p:sp>
        <p:nvSpPr>
          <p:cNvPr id="21" name="Shape 16"/>
          <p:cNvSpPr/>
          <p:nvPr/>
        </p:nvSpPr>
        <p:spPr>
          <a:xfrm>
            <a:off x="7488936" y="2633472"/>
            <a:ext cx="566928" cy="566928"/>
          </a:xfrm>
          <a:prstGeom prst="ellipse">
            <a:avLst/>
          </a:prstGeom>
          <a:solidFill>
            <a:srgbClr val="EAF1F5"/>
          </a:solidFill>
          <a:ln/>
        </p:spPr>
      </p:sp>
      <p:pic>
        <p:nvPicPr>
          <p:cNvPr id="22" name="Image 3" descr="icons/cart_21295C.png"/>
          <p:cNvPicPr>
            <a:picLocks noChangeAspect="1"/>
          </p:cNvPicPr>
          <p:nvPr/>
        </p:nvPicPr>
        <p:blipFill>
          <a:blip r:embed="rId6"/>
          <a:stretch>
            <a:fillRect/>
          </a:stretch>
        </p:blipFill>
        <p:spPr>
          <a:xfrm>
            <a:off x="7607808" y="2752344"/>
            <a:ext cx="329184" cy="329184"/>
          </a:xfrm>
          <a:prstGeom prst="rect">
            <a:avLst/>
          </a:prstGeom>
        </p:spPr>
      </p:pic>
      <p:sp>
        <p:nvSpPr>
          <p:cNvPr id="23" name="Text 17"/>
          <p:cNvSpPr/>
          <p:nvPr/>
        </p:nvSpPr>
        <p:spPr>
          <a:xfrm>
            <a:off x="7488936" y="3337560"/>
            <a:ext cx="1755648" cy="594360"/>
          </a:xfrm>
          <a:prstGeom prst="rect">
            <a:avLst/>
          </a:prstGeom>
          <a:noFill/>
          <a:ln/>
        </p:spPr>
        <p:txBody>
          <a:bodyPr wrap="square" rtlCol="0" anchor="ctr"/>
          <a:lstStyle/>
          <a:p>
            <a:pPr marL="0" indent="0">
              <a:lnSpc>
                <a:spcPct val="105000"/>
              </a:lnSpc>
              <a:buNone/>
            </a:pPr>
            <a:r>
              <a:rPr lang="en-US" sz="1450" b="1" dirty="0">
                <a:solidFill>
                  <a:srgbClr val="21295C"/>
                </a:solidFill>
                <a:latin typeface="Calibri" pitchFamily="34" charset="0"/>
                <a:ea typeface="Calibri" pitchFamily="34" charset="-122"/>
                <a:cs typeface="Calibri" pitchFamily="34" charset="-120"/>
              </a:rPr>
              <a:t>Retail</a:t>
            </a:r>
            <a:endParaRPr lang="en-US" sz="1450" dirty="0"/>
          </a:p>
        </p:txBody>
      </p:sp>
      <p:sp>
        <p:nvSpPr>
          <p:cNvPr id="24" name="Text 18"/>
          <p:cNvSpPr/>
          <p:nvPr/>
        </p:nvSpPr>
        <p:spPr>
          <a:xfrm>
            <a:off x="7488936" y="3977640"/>
            <a:ext cx="1755648" cy="1463040"/>
          </a:xfrm>
          <a:prstGeom prst="rect">
            <a:avLst/>
          </a:prstGeom>
          <a:noFill/>
          <a:ln/>
        </p:spPr>
        <p:txBody>
          <a:bodyPr wrap="square" rtlCol="0" anchor="ctr"/>
          <a:lstStyle/>
          <a:p>
            <a:pPr marL="0" indent="0">
              <a:lnSpc>
                <a:spcPct val="120000"/>
              </a:lnSpc>
              <a:buNone/>
            </a:pPr>
            <a:r>
              <a:rPr lang="en-US" sz="1100" dirty="0">
                <a:solidFill>
                  <a:srgbClr val="5C6470"/>
                </a:solidFill>
                <a:latin typeface="Calibri" pitchFamily="34" charset="0"/>
                <a:ea typeface="Calibri" pitchFamily="34" charset="-122"/>
                <a:cs typeface="Calibri" pitchFamily="34" charset="-120"/>
              </a:rPr>
              <a:t>Enables cashier-less checkout &amp; inventory monitoring</a:t>
            </a:r>
            <a:endParaRPr lang="en-US" sz="1100" dirty="0"/>
          </a:p>
        </p:txBody>
      </p:sp>
      <p:sp>
        <p:nvSpPr>
          <p:cNvPr id="25" name="Shape 19"/>
          <p:cNvSpPr/>
          <p:nvPr/>
        </p:nvSpPr>
        <p:spPr>
          <a:xfrm>
            <a:off x="9582912" y="2377440"/>
            <a:ext cx="2084832" cy="3200400"/>
          </a:xfrm>
          <a:prstGeom prst="roundRect">
            <a:avLst>
              <a:gd name="adj" fmla="val 3509"/>
            </a:avLst>
          </a:prstGeom>
          <a:solidFill>
            <a:srgbClr val="FFFFFF"/>
          </a:solidFill>
          <a:ln/>
        </p:spPr>
      </p:sp>
      <p:sp>
        <p:nvSpPr>
          <p:cNvPr id="26" name="Shape 20"/>
          <p:cNvSpPr/>
          <p:nvPr/>
        </p:nvSpPr>
        <p:spPr>
          <a:xfrm>
            <a:off x="9747504" y="2633472"/>
            <a:ext cx="566928" cy="566928"/>
          </a:xfrm>
          <a:prstGeom prst="ellipse">
            <a:avLst/>
          </a:prstGeom>
          <a:solidFill>
            <a:srgbClr val="EAF1F5"/>
          </a:solidFill>
          <a:ln/>
        </p:spPr>
      </p:sp>
      <p:pic>
        <p:nvPicPr>
          <p:cNvPr id="27" name="Image 4" descr="icons/car_21295C.png"/>
          <p:cNvPicPr>
            <a:picLocks noChangeAspect="1"/>
          </p:cNvPicPr>
          <p:nvPr/>
        </p:nvPicPr>
        <p:blipFill>
          <a:blip r:embed="rId7"/>
          <a:stretch>
            <a:fillRect/>
          </a:stretch>
        </p:blipFill>
        <p:spPr>
          <a:xfrm>
            <a:off x="9866376" y="2752344"/>
            <a:ext cx="329184" cy="329184"/>
          </a:xfrm>
          <a:prstGeom prst="rect">
            <a:avLst/>
          </a:prstGeom>
        </p:spPr>
      </p:pic>
      <p:sp>
        <p:nvSpPr>
          <p:cNvPr id="28" name="Text 21"/>
          <p:cNvSpPr/>
          <p:nvPr/>
        </p:nvSpPr>
        <p:spPr>
          <a:xfrm>
            <a:off x="9747504" y="3337560"/>
            <a:ext cx="1755648" cy="594360"/>
          </a:xfrm>
          <a:prstGeom prst="rect">
            <a:avLst/>
          </a:prstGeom>
          <a:noFill/>
          <a:ln/>
        </p:spPr>
        <p:txBody>
          <a:bodyPr wrap="square" rtlCol="0" anchor="ctr"/>
          <a:lstStyle/>
          <a:p>
            <a:pPr marL="0" indent="0">
              <a:lnSpc>
                <a:spcPct val="105000"/>
              </a:lnSpc>
              <a:buNone/>
            </a:pPr>
            <a:r>
              <a:rPr lang="en-US" sz="1450" b="1" dirty="0">
                <a:solidFill>
                  <a:srgbClr val="21295C"/>
                </a:solidFill>
                <a:latin typeface="Calibri" pitchFamily="34" charset="0"/>
                <a:ea typeface="Calibri" pitchFamily="34" charset="-122"/>
                <a:cs typeface="Calibri" pitchFamily="34" charset="-120"/>
              </a:rPr>
              <a:t>Autonomous Systems</a:t>
            </a:r>
            <a:endParaRPr lang="en-US" sz="1450" dirty="0"/>
          </a:p>
        </p:txBody>
      </p:sp>
      <p:sp>
        <p:nvSpPr>
          <p:cNvPr id="29" name="Text 22"/>
          <p:cNvSpPr/>
          <p:nvPr/>
        </p:nvSpPr>
        <p:spPr>
          <a:xfrm>
            <a:off x="9747504" y="3977640"/>
            <a:ext cx="1755648" cy="1463040"/>
          </a:xfrm>
          <a:prstGeom prst="rect">
            <a:avLst/>
          </a:prstGeom>
          <a:noFill/>
          <a:ln/>
        </p:spPr>
        <p:txBody>
          <a:bodyPr wrap="square" rtlCol="0" anchor="ctr"/>
          <a:lstStyle/>
          <a:p>
            <a:pPr marL="0" indent="0">
              <a:lnSpc>
                <a:spcPct val="120000"/>
              </a:lnSpc>
              <a:buNone/>
            </a:pPr>
            <a:r>
              <a:rPr lang="en-US" sz="1100" dirty="0">
                <a:solidFill>
                  <a:srgbClr val="5C6470"/>
                </a:solidFill>
                <a:latin typeface="Calibri" pitchFamily="34" charset="0"/>
                <a:ea typeface="Calibri" pitchFamily="34" charset="-122"/>
                <a:cs typeface="Calibri" pitchFamily="34" charset="-120"/>
              </a:rPr>
              <a:t>Drives perception for self-driving vehicles &amp; robotics</a:t>
            </a:r>
            <a:endParaRPr lang="en-US" sz="1100" dirty="0"/>
          </a:p>
        </p:txBody>
      </p:sp>
      <p:sp>
        <p:nvSpPr>
          <p:cNvPr id="30" name="Text 2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LEVELS OF VISION</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Levels of Computer Vision</a:t>
            </a:r>
            <a:endParaRPr lang="en-US" sz="3000" dirty="0"/>
          </a:p>
        </p:txBody>
      </p:sp>
      <p:sp>
        <p:nvSpPr>
          <p:cNvPr id="4" name="Text 2"/>
          <p:cNvSpPr/>
          <p:nvPr/>
        </p:nvSpPr>
        <p:spPr>
          <a:xfrm>
            <a:off x="548640" y="1463040"/>
            <a:ext cx="10424160" cy="411480"/>
          </a:xfrm>
          <a:prstGeom prst="rect">
            <a:avLst/>
          </a:prstGeom>
          <a:noFill/>
          <a:ln/>
        </p:spPr>
        <p:txBody>
          <a:bodyPr wrap="square" rtlCol="0" anchor="ctr"/>
          <a:lstStyle/>
          <a:p>
            <a:pPr marL="0" indent="0">
              <a:buNone/>
            </a:pPr>
            <a:r>
              <a:rPr lang="en-US" sz="1300" dirty="0">
                <a:solidFill>
                  <a:srgbClr val="5C6470"/>
                </a:solidFill>
                <a:latin typeface="Calibri" pitchFamily="34" charset="0"/>
                <a:ea typeface="Calibri" pitchFamily="34" charset="-122"/>
                <a:cs typeface="Calibri" pitchFamily="34" charset="-120"/>
              </a:rPr>
              <a:t>Vision systems process information in an increasing hierarchy of abstraction — from raw pixels to full scene meaning.</a:t>
            </a:r>
            <a:endParaRPr lang="en-US" sz="1300" dirty="0"/>
          </a:p>
        </p:txBody>
      </p:sp>
      <p:sp>
        <p:nvSpPr>
          <p:cNvPr id="5" name="Shape 3"/>
          <p:cNvSpPr/>
          <p:nvPr/>
        </p:nvSpPr>
        <p:spPr>
          <a:xfrm>
            <a:off x="548640" y="2148840"/>
            <a:ext cx="6766560" cy="1234440"/>
          </a:xfrm>
          <a:prstGeom prst="roundRect">
            <a:avLst>
              <a:gd name="adj" fmla="val 5926"/>
            </a:avLst>
          </a:prstGeom>
          <a:solidFill>
            <a:srgbClr val="EAF1F5"/>
          </a:solidFill>
          <a:ln/>
        </p:spPr>
      </p:sp>
      <p:sp>
        <p:nvSpPr>
          <p:cNvPr id="6" name="Text 4"/>
          <p:cNvSpPr/>
          <p:nvPr/>
        </p:nvSpPr>
        <p:spPr>
          <a:xfrm>
            <a:off x="777240" y="2313432"/>
            <a:ext cx="822960" cy="914400"/>
          </a:xfrm>
          <a:prstGeom prst="rect">
            <a:avLst/>
          </a:prstGeom>
          <a:noFill/>
          <a:ln/>
        </p:spPr>
        <p:txBody>
          <a:bodyPr wrap="square" rtlCol="0" anchor="ctr"/>
          <a:lstStyle/>
          <a:p>
            <a:pPr marL="0" indent="0">
              <a:buNone/>
            </a:pPr>
            <a:r>
              <a:rPr lang="en-US" sz="3400" b="1" dirty="0">
                <a:solidFill>
                  <a:srgbClr val="9FD3E8"/>
                </a:solidFill>
                <a:latin typeface="Cambria" pitchFamily="34" charset="0"/>
                <a:ea typeface="Cambria" pitchFamily="34" charset="-122"/>
                <a:cs typeface="Cambria" pitchFamily="34" charset="-120"/>
              </a:rPr>
              <a:t>01</a:t>
            </a:r>
            <a:endParaRPr lang="en-US" sz="3400" dirty="0"/>
          </a:p>
        </p:txBody>
      </p:sp>
      <p:sp>
        <p:nvSpPr>
          <p:cNvPr id="7" name="Text 5"/>
          <p:cNvSpPr/>
          <p:nvPr/>
        </p:nvSpPr>
        <p:spPr>
          <a:xfrm>
            <a:off x="1600200" y="2331720"/>
            <a:ext cx="4937760" cy="365760"/>
          </a:xfrm>
          <a:prstGeom prst="rect">
            <a:avLst/>
          </a:prstGeom>
          <a:noFill/>
          <a:ln/>
        </p:spPr>
        <p:txBody>
          <a:bodyPr wrap="square" rtlCol="0" anchor="ctr"/>
          <a:lstStyle/>
          <a:p>
            <a:pPr marL="0" indent="0">
              <a:buNone/>
            </a:pPr>
            <a:r>
              <a:rPr lang="en-US" sz="1550" b="1" dirty="0">
                <a:solidFill>
                  <a:srgbClr val="21295C"/>
                </a:solidFill>
                <a:latin typeface="Calibri" pitchFamily="34" charset="0"/>
                <a:ea typeface="Calibri" pitchFamily="34" charset="-122"/>
                <a:cs typeface="Calibri" pitchFamily="34" charset="-120"/>
              </a:rPr>
              <a:t>Low-Level Vision</a:t>
            </a:r>
            <a:endParaRPr lang="en-US" sz="1550" dirty="0"/>
          </a:p>
        </p:txBody>
      </p:sp>
      <p:sp>
        <p:nvSpPr>
          <p:cNvPr id="8" name="Text 6"/>
          <p:cNvSpPr/>
          <p:nvPr/>
        </p:nvSpPr>
        <p:spPr>
          <a:xfrm>
            <a:off x="1600200" y="2724912"/>
            <a:ext cx="4937760" cy="548640"/>
          </a:xfrm>
          <a:prstGeom prst="rect">
            <a:avLst/>
          </a:prstGeom>
          <a:noFill/>
          <a:ln/>
        </p:spPr>
        <p:txBody>
          <a:bodyPr wrap="square" rtlCol="0" anchor="ctr"/>
          <a:lstStyle/>
          <a:p>
            <a:pPr marL="0" indent="0">
              <a:lnSpc>
                <a:spcPct val="115000"/>
              </a:lnSpc>
              <a:buNone/>
            </a:pPr>
            <a:r>
              <a:rPr lang="en-US" sz="1200" dirty="0">
                <a:solidFill>
                  <a:srgbClr val="5C6470"/>
                </a:solidFill>
                <a:latin typeface="Calibri" pitchFamily="34" charset="0"/>
                <a:ea typeface="Calibri" pitchFamily="34" charset="-122"/>
                <a:cs typeface="Calibri" pitchFamily="34" charset="-120"/>
              </a:rPr>
              <a:t>Pixel-level operations: edge detection, noise filtering, color and contrast adjustment.</a:t>
            </a:r>
            <a:endParaRPr lang="en-US" sz="1200" dirty="0"/>
          </a:p>
        </p:txBody>
      </p:sp>
      <p:sp>
        <p:nvSpPr>
          <p:cNvPr id="9" name="Shape 7"/>
          <p:cNvSpPr/>
          <p:nvPr/>
        </p:nvSpPr>
        <p:spPr>
          <a:xfrm>
            <a:off x="548640" y="3566160"/>
            <a:ext cx="8595360" cy="1234440"/>
          </a:xfrm>
          <a:prstGeom prst="roundRect">
            <a:avLst>
              <a:gd name="adj" fmla="val 5926"/>
            </a:avLst>
          </a:prstGeom>
          <a:solidFill>
            <a:srgbClr val="BFDCE8"/>
          </a:solidFill>
          <a:ln/>
        </p:spPr>
      </p:sp>
      <p:sp>
        <p:nvSpPr>
          <p:cNvPr id="10" name="Text 8"/>
          <p:cNvSpPr/>
          <p:nvPr/>
        </p:nvSpPr>
        <p:spPr>
          <a:xfrm>
            <a:off x="777240" y="3730752"/>
            <a:ext cx="822960" cy="914400"/>
          </a:xfrm>
          <a:prstGeom prst="rect">
            <a:avLst/>
          </a:prstGeom>
          <a:noFill/>
          <a:ln/>
        </p:spPr>
        <p:txBody>
          <a:bodyPr wrap="square" rtlCol="0" anchor="ctr"/>
          <a:lstStyle/>
          <a:p>
            <a:pPr marL="0" indent="0">
              <a:buNone/>
            </a:pPr>
            <a:r>
              <a:rPr lang="en-US" sz="3400" b="1" dirty="0">
                <a:solidFill>
                  <a:srgbClr val="9FD3E8"/>
                </a:solidFill>
                <a:latin typeface="Cambria" pitchFamily="34" charset="0"/>
                <a:ea typeface="Cambria" pitchFamily="34" charset="-122"/>
                <a:cs typeface="Cambria" pitchFamily="34" charset="-120"/>
              </a:rPr>
              <a:t>02</a:t>
            </a:r>
            <a:endParaRPr lang="en-US" sz="3400" dirty="0"/>
          </a:p>
        </p:txBody>
      </p:sp>
      <p:sp>
        <p:nvSpPr>
          <p:cNvPr id="11" name="Text 9"/>
          <p:cNvSpPr/>
          <p:nvPr/>
        </p:nvSpPr>
        <p:spPr>
          <a:xfrm>
            <a:off x="1600200" y="3749040"/>
            <a:ext cx="6766560" cy="365760"/>
          </a:xfrm>
          <a:prstGeom prst="rect">
            <a:avLst/>
          </a:prstGeom>
          <a:noFill/>
          <a:ln/>
        </p:spPr>
        <p:txBody>
          <a:bodyPr wrap="square" rtlCol="0" anchor="ctr"/>
          <a:lstStyle/>
          <a:p>
            <a:pPr marL="0" indent="0">
              <a:buNone/>
            </a:pPr>
            <a:r>
              <a:rPr lang="en-US" sz="1550" b="1" dirty="0">
                <a:solidFill>
                  <a:srgbClr val="21295C"/>
                </a:solidFill>
                <a:latin typeface="Calibri" pitchFamily="34" charset="0"/>
                <a:ea typeface="Calibri" pitchFamily="34" charset="-122"/>
                <a:cs typeface="Calibri" pitchFamily="34" charset="-120"/>
              </a:rPr>
              <a:t>Mid-Level Vision</a:t>
            </a:r>
            <a:endParaRPr lang="en-US" sz="1550" dirty="0"/>
          </a:p>
        </p:txBody>
      </p:sp>
      <p:sp>
        <p:nvSpPr>
          <p:cNvPr id="12" name="Text 10"/>
          <p:cNvSpPr/>
          <p:nvPr/>
        </p:nvSpPr>
        <p:spPr>
          <a:xfrm>
            <a:off x="1600200" y="4142232"/>
            <a:ext cx="6766560" cy="548640"/>
          </a:xfrm>
          <a:prstGeom prst="rect">
            <a:avLst/>
          </a:prstGeom>
          <a:noFill/>
          <a:ln/>
        </p:spPr>
        <p:txBody>
          <a:bodyPr wrap="square" rtlCol="0" anchor="ctr"/>
          <a:lstStyle/>
          <a:p>
            <a:pPr marL="0" indent="0">
              <a:lnSpc>
                <a:spcPct val="115000"/>
              </a:lnSpc>
              <a:buNone/>
            </a:pPr>
            <a:r>
              <a:rPr lang="en-US" sz="1200" dirty="0">
                <a:solidFill>
                  <a:srgbClr val="5C6470"/>
                </a:solidFill>
                <a:latin typeface="Calibri" pitchFamily="34" charset="0"/>
                <a:ea typeface="Calibri" pitchFamily="34" charset="-122"/>
                <a:cs typeface="Calibri" pitchFamily="34" charset="-120"/>
              </a:rPr>
              <a:t>Structural grouping: segmentation, feature extraction, shape and contour analysis.</a:t>
            </a:r>
            <a:endParaRPr lang="en-US" sz="1200" dirty="0"/>
          </a:p>
        </p:txBody>
      </p:sp>
      <p:sp>
        <p:nvSpPr>
          <p:cNvPr id="13" name="Shape 11"/>
          <p:cNvSpPr/>
          <p:nvPr/>
        </p:nvSpPr>
        <p:spPr>
          <a:xfrm>
            <a:off x="548640" y="4983480"/>
            <a:ext cx="10424160" cy="1234440"/>
          </a:xfrm>
          <a:prstGeom prst="roundRect">
            <a:avLst>
              <a:gd name="adj" fmla="val 5926"/>
            </a:avLst>
          </a:prstGeom>
          <a:solidFill>
            <a:srgbClr val="1C7293"/>
          </a:solidFill>
          <a:ln/>
        </p:spPr>
      </p:sp>
      <p:sp>
        <p:nvSpPr>
          <p:cNvPr id="14" name="Text 12"/>
          <p:cNvSpPr/>
          <p:nvPr/>
        </p:nvSpPr>
        <p:spPr>
          <a:xfrm>
            <a:off x="777240" y="5148072"/>
            <a:ext cx="82296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03</a:t>
            </a:r>
            <a:endParaRPr lang="en-US" sz="3400" dirty="0"/>
          </a:p>
        </p:txBody>
      </p:sp>
      <p:sp>
        <p:nvSpPr>
          <p:cNvPr id="15" name="Text 13"/>
          <p:cNvSpPr/>
          <p:nvPr/>
        </p:nvSpPr>
        <p:spPr>
          <a:xfrm>
            <a:off x="1600200" y="5166360"/>
            <a:ext cx="8595360" cy="36576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High-Level Vision</a:t>
            </a:r>
            <a:endParaRPr lang="en-US" sz="1550" dirty="0"/>
          </a:p>
        </p:txBody>
      </p:sp>
      <p:sp>
        <p:nvSpPr>
          <p:cNvPr id="16" name="Text 14"/>
          <p:cNvSpPr/>
          <p:nvPr/>
        </p:nvSpPr>
        <p:spPr>
          <a:xfrm>
            <a:off x="1600200" y="5559552"/>
            <a:ext cx="8595360" cy="548640"/>
          </a:xfrm>
          <a:prstGeom prst="rect">
            <a:avLst/>
          </a:prstGeom>
          <a:noFill/>
          <a:ln/>
        </p:spPr>
        <p:txBody>
          <a:bodyPr wrap="square" rtlCol="0" anchor="ctr"/>
          <a:lstStyle/>
          <a:p>
            <a:pPr marL="0" indent="0">
              <a:lnSpc>
                <a:spcPct val="115000"/>
              </a:lnSpc>
              <a:buNone/>
            </a:pPr>
            <a:r>
              <a:rPr lang="en-US" sz="1200" dirty="0">
                <a:solidFill>
                  <a:srgbClr val="E5F0F5"/>
                </a:solidFill>
                <a:latin typeface="Calibri" pitchFamily="34" charset="0"/>
                <a:ea typeface="Calibri" pitchFamily="34" charset="-122"/>
                <a:cs typeface="Calibri" pitchFamily="34" charset="-120"/>
              </a:rPr>
              <a:t>Semantic understanding: object recognition, scene interpretation, and reasoning-based decisions.</a:t>
            </a:r>
            <a:endParaRPr lang="en-US" sz="1200" dirty="0"/>
          </a:p>
        </p:txBody>
      </p:sp>
      <p:sp>
        <p:nvSpPr>
          <p:cNvPr id="17" name="Text 15"/>
          <p:cNvSpPr/>
          <p:nvPr/>
        </p:nvSpPr>
        <p:spPr>
          <a:xfrm>
            <a:off x="8138160" y="1828800"/>
            <a:ext cx="3017520" cy="274320"/>
          </a:xfrm>
          <a:prstGeom prst="rect">
            <a:avLst/>
          </a:prstGeom>
          <a:noFill/>
          <a:ln/>
        </p:spPr>
        <p:txBody>
          <a:bodyPr wrap="square" rtlCol="0" anchor="ctr"/>
          <a:lstStyle/>
          <a:p>
            <a:pPr marL="0" indent="0" algn="r">
              <a:buNone/>
            </a:pPr>
            <a:r>
              <a:rPr lang="en-US" sz="1050" i="1" dirty="0">
                <a:solidFill>
                  <a:srgbClr val="5C6470"/>
                </a:solidFill>
                <a:latin typeface="Calibri" pitchFamily="34" charset="0"/>
                <a:ea typeface="Calibri" pitchFamily="34" charset="-122"/>
                <a:cs typeface="Calibri" pitchFamily="34" charset="-120"/>
              </a:rPr>
              <a:t>Increasing abstraction &amp; semantic depth  →</a:t>
            </a:r>
            <a:endParaRPr lang="en-US" sz="1050" dirty="0"/>
          </a:p>
        </p:txBody>
      </p:sp>
      <p:sp>
        <p:nvSpPr>
          <p:cNvPr id="18" name="Text 1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C647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05  ·  PROBLEM CONTEXT</a:t>
            </a:r>
            <a:endParaRPr lang="en-US" sz="1200" dirty="0"/>
          </a:p>
        </p:txBody>
      </p:sp>
      <p:sp>
        <p:nvSpPr>
          <p:cNvPr id="3" name="Text 1"/>
          <p:cNvSpPr/>
          <p:nvPr/>
        </p:nvSpPr>
        <p:spPr>
          <a:xfrm>
            <a:off x="548640" y="777240"/>
            <a:ext cx="10698480" cy="640080"/>
          </a:xfrm>
          <a:prstGeom prst="rect">
            <a:avLst/>
          </a:prstGeom>
          <a:noFill/>
          <a:ln/>
        </p:spPr>
        <p:txBody>
          <a:bodyPr wrap="square"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Case Study: Autonomous Vehicle Perception</a:t>
            </a:r>
            <a:endParaRPr lang="en-US" sz="2700" dirty="0"/>
          </a:p>
        </p:txBody>
      </p:sp>
      <p:sp>
        <p:nvSpPr>
          <p:cNvPr id="4" name="Text 2"/>
          <p:cNvSpPr/>
          <p:nvPr/>
        </p:nvSpPr>
        <p:spPr>
          <a:xfrm>
            <a:off x="548640" y="1481328"/>
            <a:ext cx="10607040" cy="548640"/>
          </a:xfrm>
          <a:prstGeom prst="rect">
            <a:avLst/>
          </a:prstGeom>
          <a:noFill/>
          <a:ln/>
        </p:spPr>
        <p:txBody>
          <a:bodyPr wrap="square" rtlCol="0" anchor="ctr"/>
          <a:lstStyle/>
          <a:p>
            <a:pPr marL="0" indent="0">
              <a:lnSpc>
                <a:spcPct val="120000"/>
              </a:lnSpc>
              <a:buNone/>
            </a:pPr>
            <a:r>
              <a:rPr lang="en-US" sz="1300" dirty="0">
                <a:solidFill>
                  <a:srgbClr val="1B1F29"/>
                </a:solidFill>
                <a:latin typeface="Calibri" pitchFamily="34" charset="0"/>
                <a:ea typeface="Calibri" pitchFamily="34" charset="-122"/>
                <a:cs typeface="Calibri" pitchFamily="34" charset="-120"/>
              </a:rPr>
              <a:t>Problem: A self-driving vehicle must interpret its surroundings in real time to navigate safely — detecting lanes, pedestrians, vehicles, and traffic signs under varying light and weather conditions.</a:t>
            </a:r>
            <a:endParaRPr lang="en-US" sz="1300" dirty="0"/>
          </a:p>
        </p:txBody>
      </p:sp>
      <p:sp>
        <p:nvSpPr>
          <p:cNvPr id="5" name="Shape 3"/>
          <p:cNvSpPr/>
          <p:nvPr/>
        </p:nvSpPr>
        <p:spPr>
          <a:xfrm>
            <a:off x="548640" y="2331720"/>
            <a:ext cx="1916582" cy="2286000"/>
          </a:xfrm>
          <a:prstGeom prst="roundRect">
            <a:avLst>
              <a:gd name="adj" fmla="val 3817"/>
            </a:avLst>
          </a:prstGeom>
          <a:solidFill>
            <a:srgbClr val="FFFFFF"/>
          </a:solidFill>
          <a:ln/>
          <a:effectLst>
            <a:outerShdw blurRad="88900" dist="25400" dir="5400000" algn="bl" rotWithShape="0">
              <a:srgbClr val="1B1F29">
                <a:alpha val="13000"/>
              </a:srgbClr>
            </a:outerShdw>
          </a:effectLst>
        </p:spPr>
      </p:sp>
      <p:sp>
        <p:nvSpPr>
          <p:cNvPr id="6" name="Shape 4"/>
          <p:cNvSpPr/>
          <p:nvPr/>
        </p:nvSpPr>
        <p:spPr>
          <a:xfrm>
            <a:off x="1214323" y="2587752"/>
            <a:ext cx="585216" cy="585216"/>
          </a:xfrm>
          <a:prstGeom prst="ellipse">
            <a:avLst/>
          </a:prstGeom>
          <a:solidFill>
            <a:srgbClr val="EAF1F5"/>
          </a:solidFill>
          <a:ln/>
        </p:spPr>
      </p:sp>
      <p:pic>
        <p:nvPicPr>
          <p:cNvPr id="7" name="Image 0" descr="icons/camera_065A82.png"/>
          <p:cNvPicPr>
            <a:picLocks noChangeAspect="1"/>
          </p:cNvPicPr>
          <p:nvPr/>
        </p:nvPicPr>
        <p:blipFill>
          <a:blip r:embed="rId3"/>
          <a:stretch>
            <a:fillRect/>
          </a:stretch>
        </p:blipFill>
        <p:spPr>
          <a:xfrm>
            <a:off x="1333195" y="2706624"/>
            <a:ext cx="347472" cy="347472"/>
          </a:xfrm>
          <a:prstGeom prst="rect">
            <a:avLst/>
          </a:prstGeom>
        </p:spPr>
      </p:pic>
      <p:sp>
        <p:nvSpPr>
          <p:cNvPr id="8" name="Text 5"/>
          <p:cNvSpPr/>
          <p:nvPr/>
        </p:nvSpPr>
        <p:spPr>
          <a:xfrm>
            <a:off x="658368" y="3337560"/>
            <a:ext cx="1697126" cy="548640"/>
          </a:xfrm>
          <a:prstGeom prst="rect">
            <a:avLst/>
          </a:prstGeom>
          <a:noFill/>
          <a:ln/>
        </p:spPr>
        <p:txBody>
          <a:bodyPr wrap="square" rtlCol="0" anchor="ctr"/>
          <a:lstStyle/>
          <a:p>
            <a:pPr marL="0" indent="0" algn="ctr">
              <a:buNone/>
            </a:pPr>
            <a:r>
              <a:rPr lang="en-US" sz="1250" b="1" dirty="0">
                <a:solidFill>
                  <a:srgbClr val="1B1F29"/>
                </a:solidFill>
                <a:latin typeface="Calibri" pitchFamily="34" charset="0"/>
                <a:ea typeface="Calibri" pitchFamily="34" charset="-122"/>
                <a:cs typeface="Calibri" pitchFamily="34" charset="-120"/>
              </a:rPr>
              <a:t>Camera / LiDAR Input</a:t>
            </a:r>
            <a:endParaRPr lang="en-US" sz="1250" dirty="0"/>
          </a:p>
        </p:txBody>
      </p:sp>
      <p:sp>
        <p:nvSpPr>
          <p:cNvPr id="9" name="Text 6"/>
          <p:cNvSpPr/>
          <p:nvPr/>
        </p:nvSpPr>
        <p:spPr>
          <a:xfrm>
            <a:off x="658368" y="3840480"/>
            <a:ext cx="1697126" cy="731520"/>
          </a:xfrm>
          <a:prstGeom prst="rect">
            <a:avLst/>
          </a:prstGeom>
          <a:noFill/>
          <a:ln/>
        </p:spPr>
        <p:txBody>
          <a:bodyPr wrap="square" rtlCol="0" anchor="ctr"/>
          <a:lstStyle/>
          <a:p>
            <a:pPr marL="0" indent="0" algn="ctr">
              <a:lnSpc>
                <a:spcPct val="115000"/>
              </a:lnSpc>
              <a:buNone/>
            </a:pPr>
            <a:r>
              <a:rPr lang="en-US" sz="1000" dirty="0">
                <a:solidFill>
                  <a:srgbClr val="5C6470"/>
                </a:solidFill>
                <a:latin typeface="Calibri" pitchFamily="34" charset="0"/>
                <a:ea typeface="Calibri" pitchFamily="34" charset="-122"/>
                <a:cs typeface="Calibri" pitchFamily="34" charset="-120"/>
              </a:rPr>
              <a:t>Continuous video + depth capture</a:t>
            </a:r>
            <a:endParaRPr lang="en-US" sz="1000" dirty="0"/>
          </a:p>
        </p:txBody>
      </p:sp>
      <p:sp>
        <p:nvSpPr>
          <p:cNvPr id="10" name="Shape 7"/>
          <p:cNvSpPr/>
          <p:nvPr/>
        </p:nvSpPr>
        <p:spPr>
          <a:xfrm>
            <a:off x="2483510" y="3364992"/>
            <a:ext cx="219456" cy="219456"/>
          </a:xfrm>
          <a:prstGeom prst="rightArrow">
            <a:avLst/>
          </a:prstGeom>
          <a:solidFill>
            <a:srgbClr val="1C7293"/>
          </a:solidFill>
          <a:ln/>
        </p:spPr>
      </p:sp>
      <p:sp>
        <p:nvSpPr>
          <p:cNvPr id="11" name="Shape 8"/>
          <p:cNvSpPr/>
          <p:nvPr/>
        </p:nvSpPr>
        <p:spPr>
          <a:xfrm>
            <a:off x="2721254" y="2331720"/>
            <a:ext cx="1916582" cy="2286000"/>
          </a:xfrm>
          <a:prstGeom prst="roundRect">
            <a:avLst>
              <a:gd name="adj" fmla="val 3817"/>
            </a:avLst>
          </a:prstGeom>
          <a:solidFill>
            <a:srgbClr val="FFFFFF"/>
          </a:solidFill>
          <a:ln/>
          <a:effectLst>
            <a:outerShdw blurRad="88900" dist="25400" dir="5400000" algn="bl" rotWithShape="0">
              <a:srgbClr val="1B1F29">
                <a:alpha val="13000"/>
              </a:srgbClr>
            </a:outerShdw>
          </a:effectLst>
        </p:spPr>
      </p:sp>
      <p:sp>
        <p:nvSpPr>
          <p:cNvPr id="12" name="Shape 9"/>
          <p:cNvSpPr/>
          <p:nvPr/>
        </p:nvSpPr>
        <p:spPr>
          <a:xfrm>
            <a:off x="3386938" y="2587752"/>
            <a:ext cx="585216" cy="585216"/>
          </a:xfrm>
          <a:prstGeom prst="ellipse">
            <a:avLst/>
          </a:prstGeom>
          <a:solidFill>
            <a:srgbClr val="EAF1F5"/>
          </a:solidFill>
          <a:ln/>
        </p:spPr>
      </p:sp>
      <p:pic>
        <p:nvPicPr>
          <p:cNvPr id="13" name="Image 1" descr="icons/sliders_065A82.png"/>
          <p:cNvPicPr>
            <a:picLocks noChangeAspect="1"/>
          </p:cNvPicPr>
          <p:nvPr/>
        </p:nvPicPr>
        <p:blipFill>
          <a:blip r:embed="rId4"/>
          <a:stretch>
            <a:fillRect/>
          </a:stretch>
        </p:blipFill>
        <p:spPr>
          <a:xfrm>
            <a:off x="3505810" y="2706624"/>
            <a:ext cx="347472" cy="347472"/>
          </a:xfrm>
          <a:prstGeom prst="rect">
            <a:avLst/>
          </a:prstGeom>
        </p:spPr>
      </p:pic>
      <p:sp>
        <p:nvSpPr>
          <p:cNvPr id="14" name="Text 10"/>
          <p:cNvSpPr/>
          <p:nvPr/>
        </p:nvSpPr>
        <p:spPr>
          <a:xfrm>
            <a:off x="2830982" y="3337560"/>
            <a:ext cx="1697126" cy="548640"/>
          </a:xfrm>
          <a:prstGeom prst="rect">
            <a:avLst/>
          </a:prstGeom>
          <a:noFill/>
          <a:ln/>
        </p:spPr>
        <p:txBody>
          <a:bodyPr wrap="square" rtlCol="0" anchor="ctr"/>
          <a:lstStyle/>
          <a:p>
            <a:pPr marL="0" indent="0" algn="ctr">
              <a:buNone/>
            </a:pPr>
            <a:r>
              <a:rPr lang="en-US" sz="1250" b="1" dirty="0">
                <a:solidFill>
                  <a:srgbClr val="1B1F29"/>
                </a:solidFill>
                <a:latin typeface="Calibri" pitchFamily="34" charset="0"/>
                <a:ea typeface="Calibri" pitchFamily="34" charset="-122"/>
                <a:cs typeface="Calibri" pitchFamily="34" charset="-120"/>
              </a:rPr>
              <a:t>Preprocessing</a:t>
            </a:r>
            <a:endParaRPr lang="en-US" sz="1250" dirty="0"/>
          </a:p>
        </p:txBody>
      </p:sp>
      <p:sp>
        <p:nvSpPr>
          <p:cNvPr id="15" name="Text 11"/>
          <p:cNvSpPr/>
          <p:nvPr/>
        </p:nvSpPr>
        <p:spPr>
          <a:xfrm>
            <a:off x="2830982" y="3840480"/>
            <a:ext cx="1697126" cy="731520"/>
          </a:xfrm>
          <a:prstGeom prst="rect">
            <a:avLst/>
          </a:prstGeom>
          <a:noFill/>
          <a:ln/>
        </p:spPr>
        <p:txBody>
          <a:bodyPr wrap="square" rtlCol="0" anchor="ctr"/>
          <a:lstStyle/>
          <a:p>
            <a:pPr marL="0" indent="0" algn="ctr">
              <a:lnSpc>
                <a:spcPct val="115000"/>
              </a:lnSpc>
              <a:buNone/>
            </a:pPr>
            <a:r>
              <a:rPr lang="en-US" sz="1000" dirty="0">
                <a:solidFill>
                  <a:srgbClr val="5C6470"/>
                </a:solidFill>
                <a:latin typeface="Calibri" pitchFamily="34" charset="0"/>
                <a:ea typeface="Calibri" pitchFamily="34" charset="-122"/>
                <a:cs typeface="Calibri" pitchFamily="34" charset="-120"/>
              </a:rPr>
              <a:t>Frame calibration, denoising</a:t>
            </a:r>
            <a:endParaRPr lang="en-US" sz="1000" dirty="0"/>
          </a:p>
        </p:txBody>
      </p:sp>
      <p:sp>
        <p:nvSpPr>
          <p:cNvPr id="16" name="Shape 12"/>
          <p:cNvSpPr/>
          <p:nvPr/>
        </p:nvSpPr>
        <p:spPr>
          <a:xfrm>
            <a:off x="4656125" y="3364992"/>
            <a:ext cx="219456" cy="219456"/>
          </a:xfrm>
          <a:prstGeom prst="rightArrow">
            <a:avLst/>
          </a:prstGeom>
          <a:solidFill>
            <a:srgbClr val="1C7293"/>
          </a:solidFill>
          <a:ln/>
        </p:spPr>
      </p:sp>
      <p:sp>
        <p:nvSpPr>
          <p:cNvPr id="17" name="Shape 13"/>
          <p:cNvSpPr/>
          <p:nvPr/>
        </p:nvSpPr>
        <p:spPr>
          <a:xfrm>
            <a:off x="4893869" y="2331720"/>
            <a:ext cx="1916582" cy="2286000"/>
          </a:xfrm>
          <a:prstGeom prst="roundRect">
            <a:avLst>
              <a:gd name="adj" fmla="val 3817"/>
            </a:avLst>
          </a:prstGeom>
          <a:solidFill>
            <a:srgbClr val="FFFFFF"/>
          </a:solidFill>
          <a:ln/>
          <a:effectLst>
            <a:outerShdw blurRad="88900" dist="25400" dir="5400000" algn="bl" rotWithShape="0">
              <a:srgbClr val="1B1F29">
                <a:alpha val="13000"/>
              </a:srgbClr>
            </a:outerShdw>
          </a:effectLst>
        </p:spPr>
      </p:sp>
      <p:sp>
        <p:nvSpPr>
          <p:cNvPr id="18" name="Shape 14"/>
          <p:cNvSpPr/>
          <p:nvPr/>
        </p:nvSpPr>
        <p:spPr>
          <a:xfrm>
            <a:off x="5559552" y="2587752"/>
            <a:ext cx="585216" cy="585216"/>
          </a:xfrm>
          <a:prstGeom prst="ellipse">
            <a:avLst/>
          </a:prstGeom>
          <a:solidFill>
            <a:srgbClr val="EAF1F5"/>
          </a:solidFill>
          <a:ln/>
        </p:spPr>
      </p:sp>
      <p:pic>
        <p:nvPicPr>
          <p:cNvPr id="19" name="Image 2" descr="icons/crosshair_1C7293.png"/>
          <p:cNvPicPr>
            <a:picLocks noChangeAspect="1"/>
          </p:cNvPicPr>
          <p:nvPr/>
        </p:nvPicPr>
        <p:blipFill>
          <a:blip r:embed="rId5"/>
          <a:stretch>
            <a:fillRect/>
          </a:stretch>
        </p:blipFill>
        <p:spPr>
          <a:xfrm>
            <a:off x="5678424" y="2706624"/>
            <a:ext cx="347472" cy="347472"/>
          </a:xfrm>
          <a:prstGeom prst="rect">
            <a:avLst/>
          </a:prstGeom>
        </p:spPr>
      </p:pic>
      <p:sp>
        <p:nvSpPr>
          <p:cNvPr id="20" name="Text 15"/>
          <p:cNvSpPr/>
          <p:nvPr/>
        </p:nvSpPr>
        <p:spPr>
          <a:xfrm>
            <a:off x="5003597" y="3337560"/>
            <a:ext cx="1697126" cy="548640"/>
          </a:xfrm>
          <a:prstGeom prst="rect">
            <a:avLst/>
          </a:prstGeom>
          <a:noFill/>
          <a:ln/>
        </p:spPr>
        <p:txBody>
          <a:bodyPr wrap="square" rtlCol="0" anchor="ctr"/>
          <a:lstStyle/>
          <a:p>
            <a:pPr marL="0" indent="0" algn="ctr">
              <a:buNone/>
            </a:pPr>
            <a:r>
              <a:rPr lang="en-US" sz="1250" b="1" dirty="0">
                <a:solidFill>
                  <a:srgbClr val="1B1F29"/>
                </a:solidFill>
                <a:latin typeface="Calibri" pitchFamily="34" charset="0"/>
                <a:ea typeface="Calibri" pitchFamily="34" charset="-122"/>
                <a:cs typeface="Calibri" pitchFamily="34" charset="-120"/>
              </a:rPr>
              <a:t>Object Detection</a:t>
            </a:r>
            <a:endParaRPr lang="en-US" sz="1250" dirty="0"/>
          </a:p>
        </p:txBody>
      </p:sp>
      <p:sp>
        <p:nvSpPr>
          <p:cNvPr id="21" name="Text 16"/>
          <p:cNvSpPr/>
          <p:nvPr/>
        </p:nvSpPr>
        <p:spPr>
          <a:xfrm>
            <a:off x="5003597" y="3840480"/>
            <a:ext cx="1697126" cy="731520"/>
          </a:xfrm>
          <a:prstGeom prst="rect">
            <a:avLst/>
          </a:prstGeom>
          <a:noFill/>
          <a:ln/>
        </p:spPr>
        <p:txBody>
          <a:bodyPr wrap="square" rtlCol="0" anchor="ctr"/>
          <a:lstStyle/>
          <a:p>
            <a:pPr marL="0" indent="0" algn="ctr">
              <a:lnSpc>
                <a:spcPct val="115000"/>
              </a:lnSpc>
              <a:buNone/>
            </a:pPr>
            <a:r>
              <a:rPr lang="en-US" sz="1000" dirty="0">
                <a:solidFill>
                  <a:srgbClr val="5C6470"/>
                </a:solidFill>
                <a:latin typeface="Calibri" pitchFamily="34" charset="0"/>
                <a:ea typeface="Calibri" pitchFamily="34" charset="-122"/>
                <a:cs typeface="Calibri" pitchFamily="34" charset="-120"/>
              </a:rPr>
              <a:t>CNN identifies cars, pedestrians, signs</a:t>
            </a:r>
            <a:endParaRPr lang="en-US" sz="1000" dirty="0"/>
          </a:p>
        </p:txBody>
      </p:sp>
      <p:sp>
        <p:nvSpPr>
          <p:cNvPr id="22" name="Shape 17"/>
          <p:cNvSpPr/>
          <p:nvPr/>
        </p:nvSpPr>
        <p:spPr>
          <a:xfrm>
            <a:off x="6828739" y="3364992"/>
            <a:ext cx="219456" cy="219456"/>
          </a:xfrm>
          <a:prstGeom prst="rightArrow">
            <a:avLst/>
          </a:prstGeom>
          <a:solidFill>
            <a:srgbClr val="1C7293"/>
          </a:solidFill>
          <a:ln/>
        </p:spPr>
      </p:sp>
      <p:sp>
        <p:nvSpPr>
          <p:cNvPr id="23" name="Shape 18"/>
          <p:cNvSpPr/>
          <p:nvPr/>
        </p:nvSpPr>
        <p:spPr>
          <a:xfrm>
            <a:off x="7066483" y="2331720"/>
            <a:ext cx="1916582" cy="2286000"/>
          </a:xfrm>
          <a:prstGeom prst="roundRect">
            <a:avLst>
              <a:gd name="adj" fmla="val 3817"/>
            </a:avLst>
          </a:prstGeom>
          <a:solidFill>
            <a:srgbClr val="FFFFFF"/>
          </a:solidFill>
          <a:ln/>
          <a:effectLst>
            <a:outerShdw blurRad="88900" dist="25400" dir="5400000" algn="bl" rotWithShape="0">
              <a:srgbClr val="1B1F29">
                <a:alpha val="13000"/>
              </a:srgbClr>
            </a:outerShdw>
          </a:effectLst>
        </p:spPr>
      </p:sp>
      <p:sp>
        <p:nvSpPr>
          <p:cNvPr id="24" name="Shape 19"/>
          <p:cNvSpPr/>
          <p:nvPr/>
        </p:nvSpPr>
        <p:spPr>
          <a:xfrm>
            <a:off x="7732166" y="2587752"/>
            <a:ext cx="585216" cy="585216"/>
          </a:xfrm>
          <a:prstGeom prst="ellipse">
            <a:avLst/>
          </a:prstGeom>
          <a:solidFill>
            <a:srgbClr val="EAF1F5"/>
          </a:solidFill>
          <a:ln/>
        </p:spPr>
      </p:sp>
      <p:pic>
        <p:nvPicPr>
          <p:cNvPr id="25" name="Image 3" descr="icons/layers_1C7293.png"/>
          <p:cNvPicPr>
            <a:picLocks noChangeAspect="1"/>
          </p:cNvPicPr>
          <p:nvPr/>
        </p:nvPicPr>
        <p:blipFill>
          <a:blip r:embed="rId6"/>
          <a:stretch>
            <a:fillRect/>
          </a:stretch>
        </p:blipFill>
        <p:spPr>
          <a:xfrm>
            <a:off x="7851038" y="2706624"/>
            <a:ext cx="347472" cy="347472"/>
          </a:xfrm>
          <a:prstGeom prst="rect">
            <a:avLst/>
          </a:prstGeom>
        </p:spPr>
      </p:pic>
      <p:sp>
        <p:nvSpPr>
          <p:cNvPr id="26" name="Text 20"/>
          <p:cNvSpPr/>
          <p:nvPr/>
        </p:nvSpPr>
        <p:spPr>
          <a:xfrm>
            <a:off x="7176211" y="3337560"/>
            <a:ext cx="1697126" cy="548640"/>
          </a:xfrm>
          <a:prstGeom prst="rect">
            <a:avLst/>
          </a:prstGeom>
          <a:noFill/>
          <a:ln/>
        </p:spPr>
        <p:txBody>
          <a:bodyPr wrap="square" rtlCol="0" anchor="ctr"/>
          <a:lstStyle/>
          <a:p>
            <a:pPr marL="0" indent="0" algn="ctr">
              <a:buNone/>
            </a:pPr>
            <a:r>
              <a:rPr lang="en-US" sz="1250" b="1" dirty="0">
                <a:solidFill>
                  <a:srgbClr val="1B1F29"/>
                </a:solidFill>
                <a:latin typeface="Calibri" pitchFamily="34" charset="0"/>
                <a:ea typeface="Calibri" pitchFamily="34" charset="-122"/>
                <a:cs typeface="Calibri" pitchFamily="34" charset="-120"/>
              </a:rPr>
              <a:t>Segmentation</a:t>
            </a:r>
            <a:endParaRPr lang="en-US" sz="1250" dirty="0"/>
          </a:p>
        </p:txBody>
      </p:sp>
      <p:sp>
        <p:nvSpPr>
          <p:cNvPr id="27" name="Text 21"/>
          <p:cNvSpPr/>
          <p:nvPr/>
        </p:nvSpPr>
        <p:spPr>
          <a:xfrm>
            <a:off x="7176211" y="3840480"/>
            <a:ext cx="1697126" cy="731520"/>
          </a:xfrm>
          <a:prstGeom prst="rect">
            <a:avLst/>
          </a:prstGeom>
          <a:noFill/>
          <a:ln/>
        </p:spPr>
        <p:txBody>
          <a:bodyPr wrap="square" rtlCol="0" anchor="ctr"/>
          <a:lstStyle/>
          <a:p>
            <a:pPr marL="0" indent="0" algn="ctr">
              <a:lnSpc>
                <a:spcPct val="115000"/>
              </a:lnSpc>
              <a:buNone/>
            </a:pPr>
            <a:r>
              <a:rPr lang="en-US" sz="1000" dirty="0">
                <a:solidFill>
                  <a:srgbClr val="5C6470"/>
                </a:solidFill>
                <a:latin typeface="Calibri" pitchFamily="34" charset="0"/>
                <a:ea typeface="Calibri" pitchFamily="34" charset="-122"/>
                <a:cs typeface="Calibri" pitchFamily="34" charset="-120"/>
              </a:rPr>
              <a:t>Lane &amp; drivable-area mapping</a:t>
            </a:r>
            <a:endParaRPr lang="en-US" sz="1000" dirty="0"/>
          </a:p>
        </p:txBody>
      </p:sp>
      <p:sp>
        <p:nvSpPr>
          <p:cNvPr id="28" name="Shape 22"/>
          <p:cNvSpPr/>
          <p:nvPr/>
        </p:nvSpPr>
        <p:spPr>
          <a:xfrm>
            <a:off x="9001354" y="3364992"/>
            <a:ext cx="219456" cy="219456"/>
          </a:xfrm>
          <a:prstGeom prst="rightArrow">
            <a:avLst/>
          </a:prstGeom>
          <a:solidFill>
            <a:srgbClr val="1C7293"/>
          </a:solidFill>
          <a:ln/>
        </p:spPr>
      </p:sp>
      <p:sp>
        <p:nvSpPr>
          <p:cNvPr id="29" name="Shape 23"/>
          <p:cNvSpPr/>
          <p:nvPr/>
        </p:nvSpPr>
        <p:spPr>
          <a:xfrm>
            <a:off x="9239098" y="2331720"/>
            <a:ext cx="1916582" cy="2286000"/>
          </a:xfrm>
          <a:prstGeom prst="roundRect">
            <a:avLst>
              <a:gd name="adj" fmla="val 3817"/>
            </a:avLst>
          </a:prstGeom>
          <a:solidFill>
            <a:srgbClr val="21295C"/>
          </a:solidFill>
          <a:ln/>
          <a:effectLst>
            <a:outerShdw blurRad="88900" dist="25400" dir="5400000" algn="bl" rotWithShape="0">
              <a:srgbClr val="1B1F29">
                <a:alpha val="13000"/>
              </a:srgbClr>
            </a:outerShdw>
          </a:effectLst>
        </p:spPr>
      </p:sp>
      <p:sp>
        <p:nvSpPr>
          <p:cNvPr id="30" name="Shape 24"/>
          <p:cNvSpPr/>
          <p:nvPr/>
        </p:nvSpPr>
        <p:spPr>
          <a:xfrm>
            <a:off x="9904781" y="2587752"/>
            <a:ext cx="585216" cy="585216"/>
          </a:xfrm>
          <a:prstGeom prst="ellipse">
            <a:avLst/>
          </a:prstGeom>
          <a:solidFill>
            <a:srgbClr val="065A82"/>
          </a:solidFill>
          <a:ln/>
        </p:spPr>
      </p:sp>
      <p:pic>
        <p:nvPicPr>
          <p:cNvPr id="31" name="Image 4" descr="icons/alert_FFFFFF.png"/>
          <p:cNvPicPr>
            <a:picLocks noChangeAspect="1"/>
          </p:cNvPicPr>
          <p:nvPr/>
        </p:nvPicPr>
        <p:blipFill>
          <a:blip r:embed="rId7"/>
          <a:stretch>
            <a:fillRect/>
          </a:stretch>
        </p:blipFill>
        <p:spPr>
          <a:xfrm>
            <a:off x="10023653" y="2706624"/>
            <a:ext cx="347472" cy="347472"/>
          </a:xfrm>
          <a:prstGeom prst="rect">
            <a:avLst/>
          </a:prstGeom>
        </p:spPr>
      </p:pic>
      <p:sp>
        <p:nvSpPr>
          <p:cNvPr id="32" name="Text 25"/>
          <p:cNvSpPr/>
          <p:nvPr/>
        </p:nvSpPr>
        <p:spPr>
          <a:xfrm>
            <a:off x="9348826" y="3337560"/>
            <a:ext cx="1697126" cy="5486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Decision Engine</a:t>
            </a:r>
            <a:endParaRPr lang="en-US" sz="1250" dirty="0"/>
          </a:p>
        </p:txBody>
      </p:sp>
      <p:sp>
        <p:nvSpPr>
          <p:cNvPr id="33" name="Text 26"/>
          <p:cNvSpPr/>
          <p:nvPr/>
        </p:nvSpPr>
        <p:spPr>
          <a:xfrm>
            <a:off x="9348826" y="3840480"/>
            <a:ext cx="1697126" cy="731520"/>
          </a:xfrm>
          <a:prstGeom prst="rect">
            <a:avLst/>
          </a:prstGeom>
          <a:noFill/>
          <a:ln/>
        </p:spPr>
        <p:txBody>
          <a:bodyPr wrap="square" rtlCol="0" anchor="ctr"/>
          <a:lstStyle/>
          <a:p>
            <a:pPr marL="0" indent="0" algn="ctr">
              <a:lnSpc>
                <a:spcPct val="115000"/>
              </a:lnSpc>
              <a:buNone/>
            </a:pPr>
            <a:r>
              <a:rPr lang="en-US" sz="1000" dirty="0">
                <a:solidFill>
                  <a:srgbClr val="CADCFC"/>
                </a:solidFill>
                <a:latin typeface="Calibri" pitchFamily="34" charset="0"/>
                <a:ea typeface="Calibri" pitchFamily="34" charset="-122"/>
                <a:cs typeface="Calibri" pitchFamily="34" charset="-120"/>
              </a:rPr>
              <a:t>Braking, steering, speed control</a:t>
            </a:r>
            <a:endParaRPr lang="en-US" sz="1000" dirty="0"/>
          </a:p>
        </p:txBody>
      </p:sp>
      <p:sp>
        <p:nvSpPr>
          <p:cNvPr id="34" name="Shape 27"/>
          <p:cNvSpPr/>
          <p:nvPr/>
        </p:nvSpPr>
        <p:spPr>
          <a:xfrm>
            <a:off x="548640" y="4983480"/>
            <a:ext cx="10607040" cy="1051560"/>
          </a:xfrm>
          <a:prstGeom prst="roundRect">
            <a:avLst>
              <a:gd name="adj" fmla="val 6957"/>
            </a:avLst>
          </a:prstGeom>
          <a:solidFill>
            <a:srgbClr val="EAF1F5"/>
          </a:solidFill>
          <a:ln/>
        </p:spPr>
      </p:sp>
      <p:sp>
        <p:nvSpPr>
          <p:cNvPr id="35" name="Text 28"/>
          <p:cNvSpPr/>
          <p:nvPr/>
        </p:nvSpPr>
        <p:spPr>
          <a:xfrm>
            <a:off x="822960" y="5138928"/>
            <a:ext cx="10058400" cy="777240"/>
          </a:xfrm>
          <a:prstGeom prst="rect">
            <a:avLst/>
          </a:prstGeom>
          <a:noFill/>
          <a:ln/>
        </p:spPr>
        <p:txBody>
          <a:bodyPr wrap="square" rtlCol="0" anchor="ctr"/>
          <a:lstStyle/>
          <a:p>
            <a:pPr marL="0" indent="0">
              <a:lnSpc>
                <a:spcPct val="120000"/>
              </a:lnSpc>
              <a:buNone/>
            </a:pPr>
            <a:r>
              <a:rPr lang="en-US" sz="1200" b="1" dirty="0">
                <a:solidFill>
                  <a:srgbClr val="21295C"/>
                </a:solidFill>
                <a:latin typeface="Calibri" pitchFamily="34" charset="0"/>
                <a:ea typeface="Calibri" pitchFamily="34" charset="-122"/>
                <a:cs typeface="Calibri" pitchFamily="34" charset="-120"/>
              </a:rPr>
              <a:t>Outcome:  </a:t>
            </a:r>
            <a:r>
              <a:rPr lang="en-US" sz="1200" dirty="0">
                <a:solidFill>
                  <a:srgbClr val="1B1F29"/>
                </a:solidFill>
                <a:latin typeface="Calibri" pitchFamily="34" charset="0"/>
                <a:ea typeface="Calibri" pitchFamily="34" charset="-122"/>
                <a:cs typeface="Calibri" pitchFamily="34" charset="-120"/>
              </a:rPr>
              <a:t>The perception pipeline fuses detection and segmentation outputs into a real-time environmental model, enabling the decision engine to plan a safe trajectory — demonstrating how CV concepts combine to solve a high-stakes, real-world problem.</a:t>
            </a:r>
            <a:endParaRPr lang="en-US" sz="1200" dirty="0"/>
          </a:p>
        </p:txBody>
      </p:sp>
      <p:sp>
        <p:nvSpPr>
          <p:cNvPr id="36" name="Text 2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C647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06  ·  CHALLENGES</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Key Challenges in Practice</a:t>
            </a:r>
            <a:endParaRPr lang="en-US" sz="3000" dirty="0"/>
          </a:p>
        </p:txBody>
      </p:sp>
      <p:sp>
        <p:nvSpPr>
          <p:cNvPr id="4" name="Text 2"/>
          <p:cNvSpPr/>
          <p:nvPr/>
        </p:nvSpPr>
        <p:spPr>
          <a:xfrm>
            <a:off x="548640" y="1463040"/>
            <a:ext cx="10058400" cy="365760"/>
          </a:xfrm>
          <a:prstGeom prst="rect">
            <a:avLst/>
          </a:prstGeom>
          <a:noFill/>
          <a:ln/>
        </p:spPr>
        <p:txBody>
          <a:bodyPr wrap="square" rtlCol="0" anchor="ctr"/>
          <a:lstStyle/>
          <a:p>
            <a:pPr marL="0" indent="0">
              <a:buNone/>
            </a:pPr>
            <a:r>
              <a:rPr lang="en-US" sz="1300" dirty="0">
                <a:solidFill>
                  <a:srgbClr val="5C6470"/>
                </a:solidFill>
                <a:latin typeface="Calibri" pitchFamily="34" charset="0"/>
                <a:ea typeface="Calibri" pitchFamily="34" charset="-122"/>
                <a:cs typeface="Calibri" pitchFamily="34" charset="-120"/>
              </a:rPr>
              <a:t>Real-world deployment introduces constraints that go beyond controlled lab accuracy.</a:t>
            </a:r>
            <a:endParaRPr lang="en-US" sz="1300" dirty="0"/>
          </a:p>
        </p:txBody>
      </p:sp>
      <p:sp>
        <p:nvSpPr>
          <p:cNvPr id="5" name="Shape 3"/>
          <p:cNvSpPr/>
          <p:nvPr/>
        </p:nvSpPr>
        <p:spPr>
          <a:xfrm>
            <a:off x="548640" y="2148840"/>
            <a:ext cx="2468880" cy="3566160"/>
          </a:xfrm>
          <a:prstGeom prst="roundRect">
            <a:avLst>
              <a:gd name="adj" fmla="val 2963"/>
            </a:avLst>
          </a:prstGeom>
          <a:solidFill>
            <a:srgbClr val="EAF1F5"/>
          </a:solidFill>
          <a:ln/>
        </p:spPr>
      </p:sp>
      <p:sp>
        <p:nvSpPr>
          <p:cNvPr id="6" name="Shape 4"/>
          <p:cNvSpPr/>
          <p:nvPr/>
        </p:nvSpPr>
        <p:spPr>
          <a:xfrm>
            <a:off x="1463040" y="2468880"/>
            <a:ext cx="640080" cy="640080"/>
          </a:xfrm>
          <a:prstGeom prst="ellipse">
            <a:avLst/>
          </a:prstGeom>
          <a:solidFill>
            <a:srgbClr val="FFFFFF"/>
          </a:solidFill>
          <a:ln/>
        </p:spPr>
      </p:sp>
      <p:pic>
        <p:nvPicPr>
          <p:cNvPr id="7" name="Image 0" descr="icons/sun_065A82.png"/>
          <p:cNvPicPr>
            <a:picLocks noChangeAspect="1"/>
          </p:cNvPicPr>
          <p:nvPr/>
        </p:nvPicPr>
        <p:blipFill>
          <a:blip r:embed="rId3"/>
          <a:stretch>
            <a:fillRect/>
          </a:stretch>
        </p:blipFill>
        <p:spPr>
          <a:xfrm>
            <a:off x="1600200" y="2606040"/>
            <a:ext cx="365760" cy="365760"/>
          </a:xfrm>
          <a:prstGeom prst="rect">
            <a:avLst/>
          </a:prstGeom>
        </p:spPr>
      </p:pic>
      <p:sp>
        <p:nvSpPr>
          <p:cNvPr id="8" name="Text 5"/>
          <p:cNvSpPr/>
          <p:nvPr/>
        </p:nvSpPr>
        <p:spPr>
          <a:xfrm>
            <a:off x="713232" y="3337560"/>
            <a:ext cx="2139696" cy="640080"/>
          </a:xfrm>
          <a:prstGeom prst="rect">
            <a:avLst/>
          </a:prstGeom>
          <a:noFill/>
          <a:ln/>
        </p:spPr>
        <p:txBody>
          <a:bodyPr wrap="square" rtlCol="0" anchor="ctr"/>
          <a:lstStyle/>
          <a:p>
            <a:pPr marL="0" indent="0" algn="ctr">
              <a:lnSpc>
                <a:spcPct val="110000"/>
              </a:lnSpc>
              <a:buNone/>
            </a:pPr>
            <a:r>
              <a:rPr lang="en-US" sz="1400" b="1" dirty="0">
                <a:solidFill>
                  <a:srgbClr val="21295C"/>
                </a:solidFill>
                <a:latin typeface="Calibri" pitchFamily="34" charset="0"/>
                <a:ea typeface="Calibri" pitchFamily="34" charset="-122"/>
                <a:cs typeface="Calibri" pitchFamily="34" charset="-120"/>
              </a:rPr>
              <a:t>Variable Lighting</a:t>
            </a:r>
            <a:endParaRPr lang="en-US" sz="1400" dirty="0"/>
          </a:p>
        </p:txBody>
      </p:sp>
      <p:sp>
        <p:nvSpPr>
          <p:cNvPr id="9" name="Text 6"/>
          <p:cNvSpPr/>
          <p:nvPr/>
        </p:nvSpPr>
        <p:spPr>
          <a:xfrm>
            <a:off x="713232" y="3977640"/>
            <a:ext cx="2139696" cy="1554480"/>
          </a:xfrm>
          <a:prstGeom prst="rect">
            <a:avLst/>
          </a:prstGeom>
          <a:noFill/>
          <a:ln/>
        </p:spPr>
        <p:txBody>
          <a:bodyPr wrap="square" rtlCol="0" anchor="ctr"/>
          <a:lstStyle/>
          <a:p>
            <a:pPr marL="0" indent="0" algn="ctr">
              <a:lnSpc>
                <a:spcPct val="120000"/>
              </a:lnSpc>
              <a:buNone/>
            </a:pPr>
            <a:r>
              <a:rPr lang="en-US" sz="1100" dirty="0">
                <a:solidFill>
                  <a:srgbClr val="5C6470"/>
                </a:solidFill>
                <a:latin typeface="Calibri" pitchFamily="34" charset="0"/>
                <a:ea typeface="Calibri" pitchFamily="34" charset="-122"/>
                <a:cs typeface="Calibri" pitchFamily="34" charset="-120"/>
              </a:rPr>
              <a:t>Shadows, glare, and low-light scenes degrade detection accuracy.</a:t>
            </a:r>
            <a:endParaRPr lang="en-US" sz="1100" dirty="0"/>
          </a:p>
        </p:txBody>
      </p:sp>
      <p:sp>
        <p:nvSpPr>
          <p:cNvPr id="10" name="Shape 7"/>
          <p:cNvSpPr/>
          <p:nvPr/>
        </p:nvSpPr>
        <p:spPr>
          <a:xfrm>
            <a:off x="3264408" y="2148840"/>
            <a:ext cx="2468880" cy="3566160"/>
          </a:xfrm>
          <a:prstGeom prst="roundRect">
            <a:avLst>
              <a:gd name="adj" fmla="val 2963"/>
            </a:avLst>
          </a:prstGeom>
          <a:solidFill>
            <a:srgbClr val="EAF1F5"/>
          </a:solidFill>
          <a:ln/>
        </p:spPr>
      </p:sp>
      <p:sp>
        <p:nvSpPr>
          <p:cNvPr id="11" name="Shape 8"/>
          <p:cNvSpPr/>
          <p:nvPr/>
        </p:nvSpPr>
        <p:spPr>
          <a:xfrm>
            <a:off x="4178808" y="2468880"/>
            <a:ext cx="640080" cy="640080"/>
          </a:xfrm>
          <a:prstGeom prst="ellipse">
            <a:avLst/>
          </a:prstGeom>
          <a:solidFill>
            <a:srgbClr val="FFFFFF"/>
          </a:solidFill>
          <a:ln/>
        </p:spPr>
      </p:sp>
      <p:pic>
        <p:nvPicPr>
          <p:cNvPr id="12" name="Image 1" descr="icons/cloud_065A82.png"/>
          <p:cNvPicPr>
            <a:picLocks noChangeAspect="1"/>
          </p:cNvPicPr>
          <p:nvPr/>
        </p:nvPicPr>
        <p:blipFill>
          <a:blip r:embed="rId4"/>
          <a:stretch>
            <a:fillRect/>
          </a:stretch>
        </p:blipFill>
        <p:spPr>
          <a:xfrm>
            <a:off x="4315968" y="2606040"/>
            <a:ext cx="365760" cy="365760"/>
          </a:xfrm>
          <a:prstGeom prst="rect">
            <a:avLst/>
          </a:prstGeom>
        </p:spPr>
      </p:pic>
      <p:sp>
        <p:nvSpPr>
          <p:cNvPr id="13" name="Text 9"/>
          <p:cNvSpPr/>
          <p:nvPr/>
        </p:nvSpPr>
        <p:spPr>
          <a:xfrm>
            <a:off x="3429000" y="3337560"/>
            <a:ext cx="2139696" cy="640080"/>
          </a:xfrm>
          <a:prstGeom prst="rect">
            <a:avLst/>
          </a:prstGeom>
          <a:noFill/>
          <a:ln/>
        </p:spPr>
        <p:txBody>
          <a:bodyPr wrap="square" rtlCol="0" anchor="ctr"/>
          <a:lstStyle/>
          <a:p>
            <a:pPr marL="0" indent="0" algn="ctr">
              <a:lnSpc>
                <a:spcPct val="110000"/>
              </a:lnSpc>
              <a:buNone/>
            </a:pPr>
            <a:r>
              <a:rPr lang="en-US" sz="1400" b="1" dirty="0">
                <a:solidFill>
                  <a:srgbClr val="21295C"/>
                </a:solidFill>
                <a:latin typeface="Calibri" pitchFamily="34" charset="0"/>
                <a:ea typeface="Calibri" pitchFamily="34" charset="-122"/>
                <a:cs typeface="Calibri" pitchFamily="34" charset="-120"/>
              </a:rPr>
              <a:t>Occlusion &amp; Clutter</a:t>
            </a:r>
            <a:endParaRPr lang="en-US" sz="1400" dirty="0"/>
          </a:p>
        </p:txBody>
      </p:sp>
      <p:sp>
        <p:nvSpPr>
          <p:cNvPr id="14" name="Text 10"/>
          <p:cNvSpPr/>
          <p:nvPr/>
        </p:nvSpPr>
        <p:spPr>
          <a:xfrm>
            <a:off x="3429000" y="3977640"/>
            <a:ext cx="2139696" cy="1554480"/>
          </a:xfrm>
          <a:prstGeom prst="rect">
            <a:avLst/>
          </a:prstGeom>
          <a:noFill/>
          <a:ln/>
        </p:spPr>
        <p:txBody>
          <a:bodyPr wrap="square" rtlCol="0" anchor="ctr"/>
          <a:lstStyle/>
          <a:p>
            <a:pPr marL="0" indent="0" algn="ctr">
              <a:lnSpc>
                <a:spcPct val="120000"/>
              </a:lnSpc>
              <a:buNone/>
            </a:pPr>
            <a:r>
              <a:rPr lang="en-US" sz="1100" dirty="0">
                <a:solidFill>
                  <a:srgbClr val="5C6470"/>
                </a:solidFill>
                <a:latin typeface="Calibri" pitchFamily="34" charset="0"/>
                <a:ea typeface="Calibri" pitchFamily="34" charset="-122"/>
                <a:cs typeface="Calibri" pitchFamily="34" charset="-120"/>
              </a:rPr>
              <a:t>Partially hidden or overlapping objects are hard to isolate.</a:t>
            </a:r>
            <a:endParaRPr lang="en-US" sz="1100" dirty="0"/>
          </a:p>
        </p:txBody>
      </p:sp>
      <p:sp>
        <p:nvSpPr>
          <p:cNvPr id="15" name="Shape 11"/>
          <p:cNvSpPr/>
          <p:nvPr/>
        </p:nvSpPr>
        <p:spPr>
          <a:xfrm>
            <a:off x="5980176" y="2148840"/>
            <a:ext cx="2468880" cy="3566160"/>
          </a:xfrm>
          <a:prstGeom prst="roundRect">
            <a:avLst>
              <a:gd name="adj" fmla="val 2963"/>
            </a:avLst>
          </a:prstGeom>
          <a:solidFill>
            <a:srgbClr val="21295C"/>
          </a:solidFill>
          <a:ln/>
        </p:spPr>
      </p:sp>
      <p:sp>
        <p:nvSpPr>
          <p:cNvPr id="16" name="Shape 12"/>
          <p:cNvSpPr/>
          <p:nvPr/>
        </p:nvSpPr>
        <p:spPr>
          <a:xfrm>
            <a:off x="6894576" y="2468880"/>
            <a:ext cx="640080" cy="640080"/>
          </a:xfrm>
          <a:prstGeom prst="ellipse">
            <a:avLst/>
          </a:prstGeom>
          <a:solidFill>
            <a:srgbClr val="065A82"/>
          </a:solidFill>
          <a:ln/>
        </p:spPr>
      </p:sp>
      <p:pic>
        <p:nvPicPr>
          <p:cNvPr id="17" name="Image 2" descr="icons/cpu_FFFFFF.png"/>
          <p:cNvPicPr>
            <a:picLocks noChangeAspect="1"/>
          </p:cNvPicPr>
          <p:nvPr/>
        </p:nvPicPr>
        <p:blipFill>
          <a:blip r:embed="rId5"/>
          <a:stretch>
            <a:fillRect/>
          </a:stretch>
        </p:blipFill>
        <p:spPr>
          <a:xfrm>
            <a:off x="7031736" y="2606040"/>
            <a:ext cx="365760" cy="365760"/>
          </a:xfrm>
          <a:prstGeom prst="rect">
            <a:avLst/>
          </a:prstGeom>
        </p:spPr>
      </p:pic>
      <p:sp>
        <p:nvSpPr>
          <p:cNvPr id="18" name="Text 13"/>
          <p:cNvSpPr/>
          <p:nvPr/>
        </p:nvSpPr>
        <p:spPr>
          <a:xfrm>
            <a:off x="6144768" y="3337560"/>
            <a:ext cx="2139696" cy="640080"/>
          </a:xfrm>
          <a:prstGeom prst="rect">
            <a:avLst/>
          </a:prstGeom>
          <a:noFill/>
          <a:ln/>
        </p:spPr>
        <p:txBody>
          <a:bodyPr wrap="square" rtlCol="0" anchor="ctr"/>
          <a:lstStyle/>
          <a:p>
            <a:pPr marL="0" indent="0" algn="ctr">
              <a:lnSpc>
                <a:spcPct val="110000"/>
              </a:lnSpc>
              <a:buNone/>
            </a:pPr>
            <a:r>
              <a:rPr lang="en-US" sz="1400" b="1" dirty="0">
                <a:solidFill>
                  <a:srgbClr val="FFFFFF"/>
                </a:solidFill>
                <a:latin typeface="Calibri" pitchFamily="34" charset="0"/>
                <a:ea typeface="Calibri" pitchFamily="34" charset="-122"/>
                <a:cs typeface="Calibri" pitchFamily="34" charset="-120"/>
              </a:rPr>
              <a:t>Compute Constraints</a:t>
            </a:r>
            <a:endParaRPr lang="en-US" sz="1400" dirty="0"/>
          </a:p>
        </p:txBody>
      </p:sp>
      <p:sp>
        <p:nvSpPr>
          <p:cNvPr id="19" name="Text 14"/>
          <p:cNvSpPr/>
          <p:nvPr/>
        </p:nvSpPr>
        <p:spPr>
          <a:xfrm>
            <a:off x="6144768" y="3977640"/>
            <a:ext cx="2139696" cy="1554480"/>
          </a:xfrm>
          <a:prstGeom prst="rect">
            <a:avLst/>
          </a:prstGeom>
          <a:noFill/>
          <a:ln/>
        </p:spPr>
        <p:txBody>
          <a:bodyPr wrap="square" rtlCol="0" anchor="ctr"/>
          <a:lstStyle/>
          <a:p>
            <a:pPr marL="0" indent="0" algn="ctr">
              <a:lnSpc>
                <a:spcPct val="120000"/>
              </a:lnSpc>
              <a:buNone/>
            </a:pPr>
            <a:r>
              <a:rPr lang="en-US" sz="1100" dirty="0">
                <a:solidFill>
                  <a:srgbClr val="CADCFC"/>
                </a:solidFill>
                <a:latin typeface="Calibri" pitchFamily="34" charset="0"/>
                <a:ea typeface="Calibri" pitchFamily="34" charset="-122"/>
                <a:cs typeface="Calibri" pitchFamily="34" charset="-120"/>
              </a:rPr>
              <a:t>Real-time inference demands efficient models on limited hardware.</a:t>
            </a:r>
            <a:endParaRPr lang="en-US" sz="1100" dirty="0"/>
          </a:p>
        </p:txBody>
      </p:sp>
      <p:sp>
        <p:nvSpPr>
          <p:cNvPr id="20" name="Shape 15"/>
          <p:cNvSpPr/>
          <p:nvPr/>
        </p:nvSpPr>
        <p:spPr>
          <a:xfrm>
            <a:off x="8695944" y="2148840"/>
            <a:ext cx="2468880" cy="3566160"/>
          </a:xfrm>
          <a:prstGeom prst="roundRect">
            <a:avLst>
              <a:gd name="adj" fmla="val 2963"/>
            </a:avLst>
          </a:prstGeom>
          <a:solidFill>
            <a:srgbClr val="EAF1F5"/>
          </a:solidFill>
          <a:ln/>
        </p:spPr>
      </p:sp>
      <p:sp>
        <p:nvSpPr>
          <p:cNvPr id="21" name="Shape 16"/>
          <p:cNvSpPr/>
          <p:nvPr/>
        </p:nvSpPr>
        <p:spPr>
          <a:xfrm>
            <a:off x="9610344" y="2468880"/>
            <a:ext cx="640080" cy="640080"/>
          </a:xfrm>
          <a:prstGeom prst="ellipse">
            <a:avLst/>
          </a:prstGeom>
          <a:solidFill>
            <a:srgbClr val="FFFFFF"/>
          </a:solidFill>
          <a:ln/>
        </p:spPr>
      </p:sp>
      <p:pic>
        <p:nvPicPr>
          <p:cNvPr id="22" name="Image 3" descr="icons/database_065A82.png"/>
          <p:cNvPicPr>
            <a:picLocks noChangeAspect="1"/>
          </p:cNvPicPr>
          <p:nvPr/>
        </p:nvPicPr>
        <p:blipFill>
          <a:blip r:embed="rId6"/>
          <a:stretch>
            <a:fillRect/>
          </a:stretch>
        </p:blipFill>
        <p:spPr>
          <a:xfrm>
            <a:off x="9747504" y="2606040"/>
            <a:ext cx="365760" cy="365760"/>
          </a:xfrm>
          <a:prstGeom prst="rect">
            <a:avLst/>
          </a:prstGeom>
        </p:spPr>
      </p:pic>
      <p:sp>
        <p:nvSpPr>
          <p:cNvPr id="23" name="Text 17"/>
          <p:cNvSpPr/>
          <p:nvPr/>
        </p:nvSpPr>
        <p:spPr>
          <a:xfrm>
            <a:off x="8860536" y="3337560"/>
            <a:ext cx="2139696" cy="640080"/>
          </a:xfrm>
          <a:prstGeom prst="rect">
            <a:avLst/>
          </a:prstGeom>
          <a:noFill/>
          <a:ln/>
        </p:spPr>
        <p:txBody>
          <a:bodyPr wrap="square" rtlCol="0" anchor="ctr"/>
          <a:lstStyle/>
          <a:p>
            <a:pPr marL="0" indent="0" algn="ctr">
              <a:lnSpc>
                <a:spcPct val="110000"/>
              </a:lnSpc>
              <a:buNone/>
            </a:pPr>
            <a:r>
              <a:rPr lang="en-US" sz="1400" b="1" dirty="0">
                <a:solidFill>
                  <a:srgbClr val="21295C"/>
                </a:solidFill>
                <a:latin typeface="Calibri" pitchFamily="34" charset="0"/>
                <a:ea typeface="Calibri" pitchFamily="34" charset="-122"/>
                <a:cs typeface="Calibri" pitchFamily="34" charset="-120"/>
              </a:rPr>
              <a:t>Data Bias &amp; Quality</a:t>
            </a:r>
            <a:endParaRPr lang="en-US" sz="1400" dirty="0"/>
          </a:p>
        </p:txBody>
      </p:sp>
      <p:sp>
        <p:nvSpPr>
          <p:cNvPr id="24" name="Text 18"/>
          <p:cNvSpPr/>
          <p:nvPr/>
        </p:nvSpPr>
        <p:spPr>
          <a:xfrm>
            <a:off x="8860536" y="3977640"/>
            <a:ext cx="2139696" cy="1554480"/>
          </a:xfrm>
          <a:prstGeom prst="rect">
            <a:avLst/>
          </a:prstGeom>
          <a:noFill/>
          <a:ln/>
        </p:spPr>
        <p:txBody>
          <a:bodyPr wrap="square" rtlCol="0" anchor="ctr"/>
          <a:lstStyle/>
          <a:p>
            <a:pPr marL="0" indent="0" algn="ctr">
              <a:lnSpc>
                <a:spcPct val="120000"/>
              </a:lnSpc>
              <a:buNone/>
            </a:pPr>
            <a:r>
              <a:rPr lang="en-US" sz="1100" dirty="0">
                <a:solidFill>
                  <a:srgbClr val="5C6470"/>
                </a:solidFill>
                <a:latin typeface="Calibri" pitchFamily="34" charset="0"/>
                <a:ea typeface="Calibri" pitchFamily="34" charset="-122"/>
                <a:cs typeface="Calibri" pitchFamily="34" charset="-120"/>
              </a:rPr>
              <a:t>Models trained on unbalanced datasets generalize poorly.</a:t>
            </a:r>
            <a:endParaRPr lang="en-US" sz="1100" dirty="0"/>
          </a:p>
        </p:txBody>
      </p:sp>
      <p:sp>
        <p:nvSpPr>
          <p:cNvPr id="25" name="Text 1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C647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065A82">
              <a:alpha val="45000"/>
            </a:srgbClr>
          </a:solidFill>
          <a:ln/>
        </p:spPr>
      </p:sp>
      <p:sp>
        <p:nvSpPr>
          <p:cNvPr id="3" name="Text 1"/>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9FD3E8"/>
                </a:solidFill>
                <a:latin typeface="Calibri" pitchFamily="34" charset="0"/>
                <a:ea typeface="Calibri" pitchFamily="34" charset="-122"/>
                <a:cs typeface="Calibri" pitchFamily="34" charset="-120"/>
              </a:rPr>
              <a:t>07  ·  CONCLUSION</a:t>
            </a:r>
            <a:endParaRPr lang="en-US" sz="1200" dirty="0"/>
          </a:p>
        </p:txBody>
      </p:sp>
      <p:sp>
        <p:nvSpPr>
          <p:cNvPr id="4" name="Text 2"/>
          <p:cNvSpPr/>
          <p:nvPr/>
        </p:nvSpPr>
        <p:spPr>
          <a:xfrm>
            <a:off x="548640" y="77724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548640" y="1600200"/>
            <a:ext cx="7406640" cy="2011680"/>
          </a:xfrm>
          <a:prstGeom prst="rect">
            <a:avLst/>
          </a:prstGeom>
          <a:noFill/>
          <a:ln/>
        </p:spPr>
        <p:txBody>
          <a:bodyPr wrap="square" rtlCol="0" anchor="ctr"/>
          <a:lstStyle/>
          <a:p>
            <a:pPr marL="0" indent="0">
              <a:lnSpc>
                <a:spcPct val="130000"/>
              </a:lnSpc>
              <a:buNone/>
            </a:pPr>
            <a:r>
              <a:rPr lang="en-US" sz="1450" dirty="0">
                <a:solidFill>
                  <a:srgbClr val="CADCFC"/>
                </a:solidFill>
                <a:latin typeface="Calibri" pitchFamily="34" charset="0"/>
                <a:ea typeface="Calibri" pitchFamily="34" charset="-122"/>
                <a:cs typeface="Calibri" pitchFamily="34" charset="-120"/>
              </a:rPr>
              <a:t>Computer Vision converts raw visual data into structured, actionable intelligence through a layered pipeline — from pixels to scene understanding. Its features (detection, segmentation, recognition) already underpin healthcare, security, retail, and autonomous systems, and as models become more efficient and data more representative, CV will keep extending automation into increasingly complex, real-world visual tasks.</a:t>
            </a:r>
            <a:endParaRPr lang="en-US" sz="1450" dirty="0"/>
          </a:p>
        </p:txBody>
      </p:sp>
      <p:sp>
        <p:nvSpPr>
          <p:cNvPr id="6" name="Shape 4"/>
          <p:cNvSpPr/>
          <p:nvPr/>
        </p:nvSpPr>
        <p:spPr>
          <a:xfrm>
            <a:off x="548640" y="3977640"/>
            <a:ext cx="128016" cy="128016"/>
          </a:xfrm>
          <a:prstGeom prst="ellipse">
            <a:avLst/>
          </a:prstGeom>
          <a:solidFill>
            <a:srgbClr val="9FD3E8"/>
          </a:solidFill>
          <a:ln/>
        </p:spPr>
      </p:sp>
      <p:sp>
        <p:nvSpPr>
          <p:cNvPr id="7" name="Text 5"/>
          <p:cNvSpPr/>
          <p:nvPr/>
        </p:nvSpPr>
        <p:spPr>
          <a:xfrm>
            <a:off x="822960" y="3858768"/>
            <a:ext cx="713232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Vision pipelines move from pixels → features → semantic meaning</a:t>
            </a:r>
            <a:endParaRPr lang="en-US" sz="1250" dirty="0"/>
          </a:p>
        </p:txBody>
      </p:sp>
      <p:sp>
        <p:nvSpPr>
          <p:cNvPr id="8" name="Shape 6"/>
          <p:cNvSpPr/>
          <p:nvPr/>
        </p:nvSpPr>
        <p:spPr>
          <a:xfrm>
            <a:off x="548640" y="4434840"/>
            <a:ext cx="128016" cy="128016"/>
          </a:xfrm>
          <a:prstGeom prst="ellipse">
            <a:avLst/>
          </a:prstGeom>
          <a:solidFill>
            <a:srgbClr val="9FD3E8"/>
          </a:solidFill>
          <a:ln/>
        </p:spPr>
      </p:sp>
      <p:sp>
        <p:nvSpPr>
          <p:cNvPr id="9" name="Text 7"/>
          <p:cNvSpPr/>
          <p:nvPr/>
        </p:nvSpPr>
        <p:spPr>
          <a:xfrm>
            <a:off x="822960" y="4315968"/>
            <a:ext cx="713232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Detection, segmentation &amp; recognition are the core building blocks</a:t>
            </a:r>
            <a:endParaRPr lang="en-US" sz="1250" dirty="0"/>
          </a:p>
        </p:txBody>
      </p:sp>
      <p:sp>
        <p:nvSpPr>
          <p:cNvPr id="10" name="Shape 8"/>
          <p:cNvSpPr/>
          <p:nvPr/>
        </p:nvSpPr>
        <p:spPr>
          <a:xfrm>
            <a:off x="548640" y="4892040"/>
            <a:ext cx="128016" cy="128016"/>
          </a:xfrm>
          <a:prstGeom prst="ellipse">
            <a:avLst/>
          </a:prstGeom>
          <a:solidFill>
            <a:srgbClr val="9FD3E8"/>
          </a:solidFill>
          <a:ln/>
        </p:spPr>
      </p:sp>
      <p:sp>
        <p:nvSpPr>
          <p:cNvPr id="11" name="Text 9"/>
          <p:cNvSpPr/>
          <p:nvPr/>
        </p:nvSpPr>
        <p:spPr>
          <a:xfrm>
            <a:off x="822960" y="4773168"/>
            <a:ext cx="713232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Real-world impact spans healthcare, security, retail &amp; mobility</a:t>
            </a:r>
            <a:endParaRPr lang="en-US" sz="1250" dirty="0"/>
          </a:p>
        </p:txBody>
      </p:sp>
      <p:pic>
        <p:nvPicPr>
          <p:cNvPr id="12" name="Image 0" descr="icons/eye_065A82.png"/>
          <p:cNvPicPr>
            <a:picLocks noChangeAspect="1"/>
          </p:cNvPicPr>
          <p:nvPr/>
        </p:nvPicPr>
        <p:blipFill>
          <a:blip r:embed="rId3">
            <a:alphaModFix amt="95000"/>
          </a:blip>
          <a:stretch>
            <a:fillRect/>
          </a:stretch>
        </p:blipFill>
        <p:spPr>
          <a:xfrm>
            <a:off x="9144000" y="2377440"/>
            <a:ext cx="2194560" cy="2194560"/>
          </a:xfrm>
          <a:prstGeom prst="rect">
            <a:avLst/>
          </a:prstGeom>
        </p:spPr>
      </p:pic>
      <p:sp>
        <p:nvSpPr>
          <p:cNvPr id="13" name="Text 10"/>
          <p:cNvSpPr/>
          <p:nvPr/>
        </p:nvSpPr>
        <p:spPr>
          <a:xfrm>
            <a:off x="8503920" y="4846320"/>
            <a:ext cx="32918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14" name="Text 11"/>
          <p:cNvSpPr/>
          <p:nvPr/>
        </p:nvSpPr>
        <p:spPr>
          <a:xfrm>
            <a:off x="8503920" y="5349240"/>
            <a:ext cx="3291840" cy="365760"/>
          </a:xfrm>
          <a:prstGeom prst="rect">
            <a:avLst/>
          </a:prstGeom>
          <a:noFill/>
          <a:ln/>
        </p:spPr>
        <p:txBody>
          <a:bodyPr wrap="square" rtlCol="0" anchor="ctr"/>
          <a:lstStyle/>
          <a:p>
            <a:pPr marL="0" indent="0" algn="ctr">
              <a:buNone/>
            </a:pPr>
            <a:r>
              <a:rPr lang="en-US" sz="1200" i="1" dirty="0">
                <a:solidFill>
                  <a:srgbClr val="9FD3E8"/>
                </a:solidFill>
                <a:latin typeface="Calibri" pitchFamily="34" charset="0"/>
                <a:ea typeface="Calibri" pitchFamily="34" charset="-122"/>
                <a:cs typeface="Calibri" pitchFamily="34" charset="-120"/>
              </a:rPr>
              <a:t>Questions &amp; Discussion</a:t>
            </a:r>
            <a:endParaRPr lang="en-US" sz="1200" dirty="0"/>
          </a:p>
        </p:txBody>
      </p:sp>
      <p:sp>
        <p:nvSpPr>
          <p:cNvPr id="15" name="Text 1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733</Words>
  <Application>Microsoft Office PowerPoint</Application>
  <PresentationFormat>Widescreen</PresentationFormat>
  <Paragraphs>113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2026-08-03T09:03:28Z</dcterms:created>
  <dcterms:modified xsi:type="dcterms:W3CDTF">2026-08-03T09:18:31Z</dcterms:modified>
</cp:coreProperties>
</file>